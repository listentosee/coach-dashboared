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Competitors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E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 The Game</c:v>
                  </c:pt>
                  <c:pt idx="1">
                    <c:v>In The Game (NC)</c:v>
                  </c:pt>
                  <c:pt idx="2">
                    <c:v>Pending</c:v>
                  </c:pt>
                  <c:pt idx="3">
                    <c:v>Profile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264</c:v>
                </c:pt>
                <c:pt idx="1">
                  <c:v>166</c:v>
                </c:pt>
                <c:pt idx="2">
                  <c:v>113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8EE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3B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Division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bubble3D val="0"/>
            <c:spPr>
              <a:solidFill>
                <a:srgbClr val="34D399"/>
              </a:solidFill>
              <a:effectLst/>
            </c:spPr>
          </c:dPt>
          <c:dPt>
            <c:idx val="2"/>
            <c:bubble3D val="0"/>
            <c:spPr>
              <a:solidFill>
                <a:srgbClr val="F472B6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High School</c:v>
                </c:pt>
                <c:pt idx="1">
                  <c:v>Traditional College</c:v>
                </c:pt>
                <c:pt idx="2">
                  <c:v>Middle School</c:v>
                </c:pt>
                <c:pt idx="3">
                  <c:v>ROP College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256</c:v>
                </c:pt>
                <c:pt idx="1">
                  <c:v>85</c:v>
                </c:pt>
                <c:pt idx="2">
                  <c:v>83</c:v>
                </c:pt>
                <c:pt idx="3">
                  <c:v>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E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Male</c:v>
                  </c:pt>
                  <c:pt idx="1">
                    <c:v>Female</c:v>
                  </c:pt>
                  <c:pt idx="2">
                    <c:v>Prefer not to say</c:v>
                  </c:pt>
                  <c:pt idx="3">
                    <c:v>Other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337</c:v>
                </c:pt>
                <c:pt idx="1">
                  <c:v>84</c:v>
                </c:pt>
                <c:pt idx="2">
                  <c:v>8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8EE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3B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Tech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E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PC</c:v>
                  </c:pt>
                  <c:pt idx="1">
                    <c:v>Chromebook</c:v>
                  </c:pt>
                  <c:pt idx="2">
                    <c:v>Mac</c:v>
                  </c:pt>
                  <c:pt idx="3">
                    <c:v>Linux</c:v>
                  </c:pt>
                  <c:pt idx="4">
                    <c:v>Other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281</c:v>
                </c:pt>
                <c:pt idx="1">
                  <c:v>72</c:v>
                </c:pt>
                <c:pt idx="2">
                  <c:v>30</c:v>
                </c:pt>
                <c:pt idx="3">
                  <c:v>29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8EE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3B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0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Race</c:v>
                </c:pt>
              </c:strCache>
            </c:strRef>
          </c:tx>
          <c:spPr>
            <a:solidFill>
              <a:srgbClr val="F472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E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Hispanic</c:v>
                  </c:pt>
                  <c:pt idx="1">
                    <c:v>White</c:v>
                  </c:pt>
                  <c:pt idx="2">
                    <c:v>Asian</c:v>
                  </c:pt>
                  <c:pt idx="3">
                    <c:v>Black</c:v>
                  </c:pt>
                  <c:pt idx="4">
                    <c:v>Other</c:v>
                  </c:pt>
                  <c:pt idx="5">
                    <c:v>Pacific</c:v>
                  </c:pt>
                  <c:pt idx="6">
                    <c:v>Native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152</c:v>
                </c:pt>
                <c:pt idx="1">
                  <c:v>125</c:v>
                </c:pt>
                <c:pt idx="2">
                  <c:v>79</c:v>
                </c:pt>
                <c:pt idx="3">
                  <c:v>46</c:v>
                </c:pt>
                <c:pt idx="4">
                  <c:v>23</c:v>
                </c:pt>
                <c:pt idx="5">
                  <c:v>5</c:v>
                </c:pt>
                <c:pt idx="6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8EE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3A3B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5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Eth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78BFA"/>
              </a:solidFill>
              <a:effectLst/>
            </c:spPr>
          </c:dPt>
          <c:dPt>
            <c:idx val="1"/>
            <c:bubble3D val="0"/>
            <c:spPr>
              <a:solidFill>
                <a:srgbClr val="F472B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E8EEF7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E8EEF7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Not Hispanic</c:v>
                </c:pt>
                <c:pt idx="1">
                  <c:v>Hispanic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222</c:v>
                </c:pt>
                <c:pt idx="1">
                  <c:v>210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93A3B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Years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E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 1 year</c:v>
                  </c:pt>
                  <c:pt idx="1">
                    <c:v>1–2 years</c:v>
                  </c:pt>
                  <c:pt idx="2">
                    <c:v>3–4 years</c:v>
                  </c:pt>
                  <c:pt idx="3">
                    <c:v>5+ years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288</c:v>
                </c:pt>
                <c:pt idx="1">
                  <c:v>109</c:v>
                </c:pt>
                <c:pt idx="2">
                  <c:v>24</c:v>
                </c:pt>
                <c:pt idx="3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8EE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3A3B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0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Non-CTF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E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Before 9am</c:v>
                  </c:pt>
                  <c:pt idx="1">
                    <c:v>School day</c:v>
                  </c:pt>
                  <c:pt idx="2">
                    <c:v>After 3pm</c:v>
                  </c:pt>
                  <c:pt idx="3">
                    <c:v>Weekend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947</c:v>
                </c:pt>
                <c:pt idx="1">
                  <c:v>3594</c:v>
                </c:pt>
                <c:pt idx="2">
                  <c:v>2342</c:v>
                </c:pt>
                <c:pt idx="3">
                  <c:v>1279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Flash CTF</c:v>
                </c:pt>
              </c:strCache>
            </c:strRef>
          </c:tx>
          <c:spPr>
            <a:solidFill>
              <a:srgbClr val="F472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E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Before 9am</c:v>
                  </c:pt>
                  <c:pt idx="1">
                    <c:v>School day</c:v>
                  </c:pt>
                  <c:pt idx="2">
                    <c:v>After 3pm</c:v>
                  </c:pt>
                  <c:pt idx="3">
                    <c:v>Weekend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76</c:v>
                </c:pt>
                <c:pt idx="2">
                  <c:v>372</c:v>
                </c:pt>
                <c:pt idx="3">
                  <c:v>4217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8EE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3A3B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0"/>
        </c:scaling>
        <c:delete val="0"/>
        <c:axPos val="l"/>
        <c:majorGridlines>
          <c:spPr>
            <a:ln w="12700" cap="flat">
              <a:solidFill>
                <a:srgbClr val="27374D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3B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93A3B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Non-CTF solves</c:v>
                </c:pt>
              </c:strCache>
            </c:strRef>
          </c:tx>
          <c:spPr>
            <a:solidFill>
              <a:srgbClr val="38BDF8"/>
            </a:solidFill>
            <a:ln w="31750" cap="flat">
              <a:solidFill>
                <a:srgbClr val="38BDF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Nov 2025</c:v>
                  </c:pt>
                  <c:pt idx="1">
                    <c:v>Dec 2025</c:v>
                  </c:pt>
                  <c:pt idx="2">
                    <c:v>Jan 2026</c:v>
                  </c:pt>
                  <c:pt idx="3">
                    <c:v>Feb 2026</c:v>
                  </c:pt>
                  <c:pt idx="4">
                    <c:v>Mar 2026</c:v>
                  </c:pt>
                  <c:pt idx="5">
                    <c:v>Apr 2026</c:v>
                  </c:pt>
                  <c:pt idx="6">
                    <c:v>May 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66</c:v>
                </c:pt>
                <c:pt idx="1">
                  <c:v>3</c:v>
                </c:pt>
                <c:pt idx="2">
                  <c:v>784</c:v>
                </c:pt>
                <c:pt idx="3">
                  <c:v>2775</c:v>
                </c:pt>
                <c:pt idx="4">
                  <c:v>2338</c:v>
                </c:pt>
                <c:pt idx="5">
                  <c:v>1739</c:v>
                </c:pt>
                <c:pt idx="6">
                  <c:v>131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Flash CTF solves</c:v>
                </c:pt>
              </c:strCache>
            </c:strRef>
          </c:tx>
          <c:spPr>
            <a:solidFill>
              <a:srgbClr val="F472B6"/>
            </a:solidFill>
            <a:ln w="31750" cap="flat">
              <a:solidFill>
                <a:srgbClr val="F472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472B6"/>
              </a:solidFill>
              <a:ln w="9525" cap="flat">
                <a:solidFill>
                  <a:srgbClr val="F472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Nov 2025</c:v>
                  </c:pt>
                  <c:pt idx="1">
                    <c:v>Dec 2025</c:v>
                  </c:pt>
                  <c:pt idx="2">
                    <c:v>Jan 2026</c:v>
                  </c:pt>
                  <c:pt idx="3">
                    <c:v>Feb 2026</c:v>
                  </c:pt>
                  <c:pt idx="4">
                    <c:v>Mar 2026</c:v>
                  </c:pt>
                  <c:pt idx="5">
                    <c:v>Apr 2026</c:v>
                  </c:pt>
                  <c:pt idx="6">
                    <c:v>May 2026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37</c:v>
                </c:pt>
                <c:pt idx="3">
                  <c:v>59</c:v>
                </c:pt>
                <c:pt idx="4">
                  <c:v>41</c:v>
                </c:pt>
                <c:pt idx="5">
                  <c:v>4244</c:v>
                </c:pt>
                <c:pt idx="6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3B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7374D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3B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93A3B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Solves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E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Cryptography</c:v>
                  </c:pt>
                  <c:pt idx="1">
                    <c:v>Reconnaissance</c:v>
                  </c:pt>
                  <c:pt idx="2">
                    <c:v>Forensics</c:v>
                  </c:pt>
                  <c:pt idx="3">
                    <c:v>OSINT</c:v>
                  </c:pt>
                  <c:pt idx="4">
                    <c:v>Web Exploitation</c:v>
                  </c:pt>
                  <c:pt idx="5">
                    <c:v>Social</c:v>
                  </c:pt>
                  <c:pt idx="6">
                    <c:v>Reverse Eng.</c:v>
                  </c:pt>
                  <c:pt idx="7">
                    <c:v>Operating Systems</c:v>
                  </c:pt>
                  <c:pt idx="8">
                    <c:v>Miscellaneous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2832</c:v>
                </c:pt>
                <c:pt idx="1">
                  <c:v>2626</c:v>
                </c:pt>
                <c:pt idx="2">
                  <c:v>1986</c:v>
                </c:pt>
                <c:pt idx="3">
                  <c:v>1123</c:v>
                </c:pt>
                <c:pt idx="4">
                  <c:v>841</c:v>
                </c:pt>
                <c:pt idx="5">
                  <c:v>804</c:v>
                </c:pt>
                <c:pt idx="6">
                  <c:v>735</c:v>
                </c:pt>
                <c:pt idx="7">
                  <c:v>534</c:v>
                </c:pt>
                <c:pt idx="8">
                  <c:v>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8EE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3A3B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0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Solves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8EE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High School</c:v>
                  </c:pt>
                  <c:pt idx="1">
                    <c:v>Traditional College</c:v>
                  </c:pt>
                  <c:pt idx="2">
                    <c:v>Middle School</c:v>
                  </c:pt>
                  <c:pt idx="3">
                    <c:v>ROP College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6223</c:v>
                </c:pt>
                <c:pt idx="1">
                  <c:v>4226</c:v>
                </c:pt>
                <c:pt idx="2">
                  <c:v>1473</c:v>
                </c:pt>
                <c:pt idx="3">
                  <c:v>125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8EE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3A3B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0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1643055" y="6400800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11332159" y="640080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" name="Shape 3"/>
          <p:cNvSpPr/>
          <p:nvPr/>
        </p:nvSpPr>
        <p:spPr>
          <a:xfrm>
            <a:off x="11021263" y="6400800"/>
            <a:ext cx="128016" cy="128016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ANALYTICS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1109441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Coaches, Competitors &amp; Game-Platform Engagement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program-wide snapshot of enrollment, demographics, compliance, and cyber-challenge activity across all coaches.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1663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545</a:t>
            </a:r>
            <a:pPr indent="0" marL="0">
              <a:buNone/>
            </a:pPr>
            <a:r>
              <a:rPr lang="en-US" sz="16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competitors      </a:t>
            </a:r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pPr indent="0" marL="0">
              <a:buNone/>
            </a:pPr>
            <a:r>
              <a:rPr lang="en-US" sz="16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coaches      </a:t>
            </a:r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12,827</a:t>
            </a:r>
            <a:pPr indent="0" marL="0">
              <a:buNone/>
            </a:pPr>
            <a:r>
              <a:rPr lang="en-US" sz="16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challenges solved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ListenToSee</a:t>
            </a:r>
            <a:pPr algn="l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Operations Analytics   ·   Data as of May 18,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4543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7864" cy="160020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874520"/>
            <a:ext cx="212895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34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endParaRPr lang="en-US" sz="34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Coaches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390824" y="1783080"/>
            <a:ext cx="2567864" cy="160020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0280" y="1874520"/>
            <a:ext cx="212895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34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545</a:t>
            </a:r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endParaRPr lang="en-US" sz="34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Competitors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233008" y="1783080"/>
            <a:ext cx="2567864" cy="160020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2464" y="1874520"/>
            <a:ext cx="212895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3400" b="1" dirty="0">
                <a:solidFill>
                  <a:srgbClr val="F47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endParaRPr lang="en-US" sz="34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9075191" y="1783080"/>
            <a:ext cx="2567864" cy="1600200"/>
          </a:xfrm>
          <a:prstGeom prst="roundRect">
            <a:avLst>
              <a:gd name="adj" fmla="val 4000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94647" y="1874520"/>
            <a:ext cx="212895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3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endParaRPr lang="en-US" sz="34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on Map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1828800"/>
          </a:xfrm>
          <a:prstGeom prst="roundRect">
            <a:avLst>
              <a:gd name="adj" fmla="val 3500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1054577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545 competitors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coaches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teams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264 are fully “in the game,” and cyber engagement totals </a:t>
            </a:r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12,827 solved challenges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8,162 non-CTF and 4,665 Flash CTF.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ListenToSee</a:t>
            </a:r>
            <a:pPr algn="l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Operations Analytics   ·   Data as of May 18,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543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 Status Distribution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66560" cy="4343400"/>
          </a:xfrm>
          <a:prstGeom prst="roundRect">
            <a:avLst>
              <a:gd name="adj" fmla="val 1474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874520"/>
          <a:ext cx="64008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691640"/>
            <a:ext cx="3962095" cy="1371600"/>
          </a:xfrm>
          <a:prstGeom prst="roundRect">
            <a:avLst>
              <a:gd name="adj" fmla="val 4667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0416" y="1783080"/>
            <a:ext cx="3523183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34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545</a:t>
            </a:r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endParaRPr lang="en-US" sz="34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Competitors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7680960" y="3172968"/>
            <a:ext cx="3962095" cy="1371600"/>
          </a:xfrm>
          <a:prstGeom prst="roundRect">
            <a:avLst>
              <a:gd name="adj" fmla="val 4667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0416" y="3264408"/>
            <a:ext cx="3523183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34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264</a:t>
            </a:r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endParaRPr lang="en-US" sz="34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compliant — “In The Game”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7680960" y="4654296"/>
            <a:ext cx="3962095" cy="1371600"/>
          </a:xfrm>
          <a:prstGeom prst="roundRect">
            <a:avLst>
              <a:gd name="adj" fmla="val 4667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00416" y="4745736"/>
            <a:ext cx="3523183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3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113</a:t>
            </a:r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endParaRPr lang="en-US" sz="34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onboarding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ListenToSee</a:t>
            </a:r>
            <a:pPr algn="l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Operations Analytics   ·   Data as of May 18,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4543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 &amp; Agreement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54298" cy="2788920"/>
          </a:xfrm>
          <a:prstGeom prst="roundRect">
            <a:avLst>
              <a:gd name="adj" fmla="val 2295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3454298" cy="118872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12848"/>
            <a:ext cx="299709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78608"/>
            <a:ext cx="299709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9970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agreement activity yet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8698" y="1828800"/>
            <a:ext cx="3454298" cy="2788920"/>
          </a:xfrm>
          <a:prstGeom prst="roundRect">
            <a:avLst>
              <a:gd name="adj" fmla="val 2295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8698" y="1828800"/>
            <a:ext cx="3454298" cy="118872"/>
          </a:xfrm>
          <a:prstGeom prst="roundRect">
            <a:avLst>
              <a:gd name="adj" fmla="val 15385"/>
            </a:avLst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4597298" y="2212848"/>
            <a:ext cx="299709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7298" y="2578608"/>
            <a:ext cx="299709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597298" y="3611880"/>
            <a:ext cx="29970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signature / completion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88757" y="1828800"/>
            <a:ext cx="3454298" cy="2788920"/>
          </a:xfrm>
          <a:prstGeom prst="roundRect">
            <a:avLst>
              <a:gd name="adj" fmla="val 2295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8757" y="1828800"/>
            <a:ext cx="3454298" cy="118872"/>
          </a:xfrm>
          <a:prstGeom prst="roundRect">
            <a:avLst>
              <a:gd name="adj" fmla="val 15385"/>
            </a:avLst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8417357" y="2212848"/>
            <a:ext cx="299709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7357" y="2578608"/>
            <a:ext cx="299709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269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8417357" y="3611880"/>
            <a:ext cx="29970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or manual release on file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98348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545 competitors, 269 (49%) have a completed release on file; 96 are in flight and 180 have not started.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ListenToSee</a:t>
            </a:r>
            <a:pPr algn="l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Operations Analytics   ·   Data as of May 18,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4543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· 432 ELIGIBLE COMPETITORS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Division &amp; College-Track Mix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4297680"/>
          </a:xfrm>
          <a:prstGeom prst="roundRect">
            <a:avLst>
              <a:gd name="adj" fmla="val 1489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92024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880360" y="3337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432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74320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903720" y="1783080"/>
            <a:ext cx="4739335" cy="950976"/>
          </a:xfrm>
          <a:prstGeom prst="roundRect">
            <a:avLst>
              <a:gd name="adj" fmla="val 6731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86600" y="2112264"/>
            <a:ext cx="256032" cy="25603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0" y="1938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0" y="2258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 competitors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454335" y="203911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903720" y="2843784"/>
            <a:ext cx="4739335" cy="950976"/>
          </a:xfrm>
          <a:prstGeom prst="roundRect">
            <a:avLst>
              <a:gd name="adj" fmla="val 6731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86600" y="3172968"/>
            <a:ext cx="256032" cy="25603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0" y="29992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College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98080" y="3319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 competitors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454335" y="309981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903720" y="3904488"/>
            <a:ext cx="4739335" cy="950976"/>
          </a:xfrm>
          <a:prstGeom prst="roundRect">
            <a:avLst>
              <a:gd name="adj" fmla="val 6731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086600" y="4233672"/>
            <a:ext cx="256032" cy="256032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0" y="40599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498080" y="43799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 competitors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454335" y="41605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47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19%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6903720" y="4965192"/>
            <a:ext cx="4739335" cy="950976"/>
          </a:xfrm>
          <a:prstGeom prst="roundRect">
            <a:avLst>
              <a:gd name="adj" fmla="val 6731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086600" y="5294376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7498080" y="5120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 College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498080" y="5440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competitors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454335" y="5221224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2%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ListenToSee</a:t>
            </a:r>
            <a:pPr algn="l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Operations Analytics   ·   Data as of May 18, 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4543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Demographics — Gender &amp; Technology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10048" cy="4297680"/>
          </a:xfrm>
          <a:prstGeom prst="roundRect">
            <a:avLst>
              <a:gd name="adj" fmla="val 1489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01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IDENTITY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286000"/>
          <a:ext cx="5090008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33008" y="1737360"/>
            <a:ext cx="5410048" cy="4297680"/>
          </a:xfrm>
          <a:prstGeom prst="roundRect">
            <a:avLst>
              <a:gd name="adj" fmla="val 1489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1608" y="1901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ACCESS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370168" y="2286000"/>
          <a:ext cx="5090008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ListenToSee</a:t>
            </a:r>
            <a:pPr algn="l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Operations Analytics   ·   Data as of May 18,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4543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Demographics — Race &amp; Ethnicity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10048" cy="4297680"/>
          </a:xfrm>
          <a:prstGeom prst="roundRect">
            <a:avLst>
              <a:gd name="adj" fmla="val 1489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01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286000"/>
          <a:ext cx="5090008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33008" y="1737360"/>
            <a:ext cx="5410048" cy="4297680"/>
          </a:xfrm>
          <a:prstGeom prst="roundRect">
            <a:avLst>
              <a:gd name="adj" fmla="val 1489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1608" y="1901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ETHNICITY</a:t>
            </a:r>
            <a:endParaRPr lang="en-US" sz="12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370168" y="2331720"/>
          <a:ext cx="5090008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ListenToSee</a:t>
            </a:r>
            <a:pPr algn="l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Operations Analytics   ·   Data as of May 18,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4543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Years Participating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4297680"/>
          </a:xfrm>
          <a:prstGeom prst="roundRect">
            <a:avLst>
              <a:gd name="adj" fmla="val 1489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965960"/>
          <a:ext cx="65836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737360"/>
            <a:ext cx="3824935" cy="4297680"/>
          </a:xfrm>
          <a:prstGeom prst="roundRect">
            <a:avLst>
              <a:gd name="adj" fmla="val 1673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2011680"/>
            <a:ext cx="3276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2377440"/>
            <a:ext cx="32762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092440" y="3520440"/>
            <a:ext cx="32762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competitors are in their first two years of competition (397 of 432).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92440" y="4572000"/>
            <a:ext cx="32762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strongly entry-level population — onboarding and beginner pathways matter most.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ListenToSee</a:t>
            </a:r>
            <a:pPr algn="l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Operations Analytics   ·   Data as of May 18,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4543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Solved: Non-CTF vs CTF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10048" cy="1783080"/>
          </a:xfrm>
          <a:prstGeom prst="roundRect">
            <a:avLst>
              <a:gd name="adj" fmla="val 3590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8872" cy="1783080"/>
          </a:xfrm>
          <a:prstGeom prst="roundRect">
            <a:avLst>
              <a:gd name="adj" fmla="val 15385"/>
            </a:avLst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65960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NON-CTF (ODL) SOLVED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48614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8,162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96112" y="3154680"/>
            <a:ext cx="486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On-Demand Labs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783080"/>
            <a:ext cx="5410048" cy="1783080"/>
          </a:xfrm>
          <a:prstGeom prst="roundRect">
            <a:avLst>
              <a:gd name="adj" fmla="val 3590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3008" y="1783080"/>
            <a:ext cx="118872" cy="1783080"/>
          </a:xfrm>
          <a:prstGeom prst="roundRect">
            <a:avLst>
              <a:gd name="adj" fmla="val 15385"/>
            </a:avLst>
          </a:prstGeom>
          <a:solidFill>
            <a:srgbClr val="F472B6"/>
          </a:solidFill>
          <a:ln/>
        </p:spPr>
      </p:sp>
      <p:sp>
        <p:nvSpPr>
          <p:cNvPr id="11" name="Text 9"/>
          <p:cNvSpPr/>
          <p:nvPr/>
        </p:nvSpPr>
        <p:spPr>
          <a:xfrm>
            <a:off x="6580480" y="1965960"/>
            <a:ext cx="4907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CTF SOLVED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53048" y="2240280"/>
            <a:ext cx="48614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4,665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580480" y="3154680"/>
            <a:ext cx="48614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capture-the-flag events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410048" cy="2286000"/>
          </a:xfrm>
          <a:prstGeom prst="roundRect">
            <a:avLst>
              <a:gd name="adj" fmla="val 2800"/>
            </a:avLst>
          </a:prstGeom>
          <a:solidFill>
            <a:srgbClr val="1C2A44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913632"/>
            <a:ext cx="495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SCHOOL DAY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" y="4169664"/>
            <a:ext cx="270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4,568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04672" y="4882896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timestamped solves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" y="5212080"/>
            <a:ext cx="1541221" cy="676656"/>
          </a:xfrm>
          <a:prstGeom prst="roundRect">
            <a:avLst>
              <a:gd name="adj" fmla="val 9459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5266944"/>
            <a:ext cx="14497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9am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50392" y="5486400"/>
            <a:ext cx="144978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947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483053" y="5212080"/>
            <a:ext cx="1541221" cy="676656"/>
          </a:xfrm>
          <a:prstGeom prst="roundRect">
            <a:avLst>
              <a:gd name="adj" fmla="val 9459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8773" y="5266944"/>
            <a:ext cx="14497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3pm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28773" y="5486400"/>
            <a:ext cx="144978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2,342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61434" y="5212080"/>
            <a:ext cx="1541221" cy="676656"/>
          </a:xfrm>
          <a:prstGeom prst="roundRect">
            <a:avLst>
              <a:gd name="adj" fmla="val 9459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7154" y="5266944"/>
            <a:ext cx="14497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07154" y="5486400"/>
            <a:ext cx="144978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1,279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33008" y="3749040"/>
            <a:ext cx="5410048" cy="2286000"/>
          </a:xfrm>
          <a:prstGeom prst="roundRect">
            <a:avLst>
              <a:gd name="adj" fmla="val 2800"/>
            </a:avLst>
          </a:prstGeom>
          <a:solidFill>
            <a:srgbClr val="1C2A44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89040" y="3913632"/>
            <a:ext cx="495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SCHOOL DAY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89040" y="4169664"/>
            <a:ext cx="2705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4,589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489040" y="4882896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of timestamped solves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89040" y="5212080"/>
            <a:ext cx="1541221" cy="676656"/>
          </a:xfrm>
          <a:prstGeom prst="roundRect">
            <a:avLst>
              <a:gd name="adj" fmla="val 9459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4760" y="5266944"/>
            <a:ext cx="14497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9am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34760" y="5486400"/>
            <a:ext cx="144978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167421" y="5212080"/>
            <a:ext cx="1541221" cy="676656"/>
          </a:xfrm>
          <a:prstGeom prst="roundRect">
            <a:avLst>
              <a:gd name="adj" fmla="val 9459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13141" y="5266944"/>
            <a:ext cx="14497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3pm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13141" y="5486400"/>
            <a:ext cx="144978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845802" y="5212080"/>
            <a:ext cx="1541221" cy="676656"/>
          </a:xfrm>
          <a:prstGeom prst="roundRect">
            <a:avLst>
              <a:gd name="adj" fmla="val 9459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91522" y="5266944"/>
            <a:ext cx="144978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891522" y="5486400"/>
            <a:ext cx="144978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4,217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ListenToSee</a:t>
            </a:r>
            <a:pPr algn="l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Operations Analytics   ·   Data as of May 18, 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4543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LEARNING HAPPENS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Outside-School-Day Engagement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4415" cy="1051560"/>
          </a:xfrm>
          <a:prstGeom prst="roundRect">
            <a:avLst>
              <a:gd name="adj" fmla="val 6087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1054577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all cyber activity happens on students’ own time. 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non-CTF and 98% of Flash CTF solves occur outside the 9am–3pm school window (Pacific, Mon–Fri).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1094415" cy="3108960"/>
          </a:xfrm>
          <a:prstGeom prst="roundRect">
            <a:avLst>
              <a:gd name="adj" fmla="val 2059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77240" y="3246120"/>
          <a:ext cx="10637215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ListenToSee</a:t>
            </a:r>
            <a:pPr algn="l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Operations Analytics   ·   Data as of May 18,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4543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· NOV 2025 – MAY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 Activity Over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— this view always reflects all coaches. Flash CTF peaks at 4,244 solves in April during a major timed event.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4160520"/>
          </a:xfrm>
          <a:prstGeom prst="roundRect">
            <a:avLst>
              <a:gd name="adj" fmla="val 1538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777240" y="2011680"/>
          <a:ext cx="10637215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ListenToSee</a:t>
            </a:r>
            <a:pPr algn="l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Operations Analytics   ·   Data as of May 18,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4543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SOLVE · 12,827 TOTAL SOLVES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 Topic Clustering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4297680"/>
          </a:xfrm>
          <a:prstGeom prst="roundRect">
            <a:avLst>
              <a:gd name="adj" fmla="val 1489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77240" y="2057400"/>
          <a:ext cx="10500055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ListenToSee</a:t>
            </a:r>
            <a:pPr algn="l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Operations Analytics   ·   Data as of May 18,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4543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Solves by Division &amp; Flash CTF Reach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4297680"/>
          </a:xfrm>
          <a:prstGeom prst="roundRect">
            <a:avLst>
              <a:gd name="adj" fmla="val 1489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019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SOLVED BY DIVISION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331720"/>
          <a:ext cx="59893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269480" y="1737360"/>
            <a:ext cx="4373575" cy="1371600"/>
          </a:xfrm>
          <a:prstGeom prst="roundRect">
            <a:avLst>
              <a:gd name="adj" fmla="val 4667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88936" y="1828800"/>
            <a:ext cx="3934663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3400" b="1" dirty="0">
                <a:solidFill>
                  <a:srgbClr val="F472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271</a:t>
            </a:r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endParaRPr lang="en-US" sz="34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Flash CTF participants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7269480" y="3200400"/>
            <a:ext cx="4373575" cy="1371600"/>
          </a:xfrm>
          <a:prstGeom prst="roundRect">
            <a:avLst>
              <a:gd name="adj" fmla="val 4667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88936" y="3291840"/>
            <a:ext cx="3934663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3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573</a:t>
            </a:r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endParaRPr lang="en-US" sz="34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Flash CTF event entries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7269480" y="4663440"/>
            <a:ext cx="4373575" cy="1371600"/>
          </a:xfrm>
          <a:prstGeom prst="roundRect">
            <a:avLst>
              <a:gd name="adj" fmla="val 4667"/>
            </a:avLst>
          </a:prstGeom>
          <a:solidFill>
            <a:srgbClr val="151F33"/>
          </a:solidFill>
          <a:ln w="9525">
            <a:solidFill>
              <a:srgbClr val="2737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88936" y="4754880"/>
            <a:ext cx="3934663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34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2,446</a:t>
            </a:r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endParaRPr lang="en-US" sz="3400" dirty="0"/>
          </a:p>
          <a:p>
            <a:pPr algn="l" indent="0" marL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Non-CTF solves by students who never entered a CTF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ListenToSee</a:t>
            </a:r>
            <a:pPr algn="l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Operations Analytics   ·   Data as of May 18,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4543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1643055" y="6400800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11332159" y="640080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5" name="Shape 3"/>
          <p:cNvSpPr/>
          <p:nvPr/>
        </p:nvSpPr>
        <p:spPr>
          <a:xfrm>
            <a:off x="11021263" y="6400800"/>
            <a:ext cx="128016" cy="128016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E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tells us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984248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  </a:t>
            </a:r>
            <a:pPr indent="0" marL="0">
              <a:buNone/>
            </a:pPr>
            <a:r>
              <a:rPr lang="en-US" sz="15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545 competitors and 36 coaches; 264 fully compliant and “in the game.”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798064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980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770632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Early-career base   </a:t>
            </a:r>
            <a:pPr indent="0" marL="0">
              <a:buNone/>
            </a:pPr>
            <a:r>
              <a:rPr lang="en-US" sz="15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of competitors are in their first two years — beginner pathways are critical.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584448"/>
            <a:ext cx="402336" cy="40233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5844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3557016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   </a:t>
            </a:r>
            <a:pPr indent="0" marL="0">
              <a:buNone/>
            </a:pPr>
            <a:r>
              <a:rPr lang="en-US" sz="15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49% have a completed release; 180 have not started — a clear follow-up target.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70832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70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4343400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is after-hours   </a:t>
            </a:r>
            <a:pPr indent="0" marL="0">
              <a:buNone/>
            </a:pPr>
            <a:r>
              <a:rPr lang="en-US" sz="15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non-CTF and 98% of CTF solving happens outside school hours.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157216"/>
            <a:ext cx="402336" cy="40233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57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5129784"/>
            <a:ext cx="10454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is event-driven   </a:t>
            </a:r>
            <a:pPr indent="0" marL="0">
              <a:buNone/>
            </a:pPr>
            <a:r>
              <a:rPr lang="en-US" sz="15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CTF solves peak at 4,244 in April; 271 unique students have participated.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ListenToSee</a:t>
            </a:r>
            <a:pPr algn="l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Operations Analytics   ·   Data as of May 18,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5433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2026-05-18T20:51:01Z</dcterms:created>
  <dcterms:modified xsi:type="dcterms:W3CDTF">2026-05-18T20:51:01Z</dcterms:modified>
</cp:coreProperties>
</file>