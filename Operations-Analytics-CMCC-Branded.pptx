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Division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B69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ED5-3C4F-9FCF-92387FC425E0}"/>
              </c:ext>
            </c:extLst>
          </c:dPt>
          <c:dPt>
            <c:idx val="1"/>
            <c:bubble3D val="0"/>
            <c:spPr>
              <a:solidFill>
                <a:srgbClr val="0092B3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ED5-3C4F-9FCF-92387FC425E0}"/>
              </c:ext>
            </c:extLst>
          </c:dPt>
          <c:dPt>
            <c:idx val="2"/>
            <c:bubble3D val="0"/>
            <c:spPr>
              <a:solidFill>
                <a:srgbClr val="FF6B00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2ED5-3C4F-9FCF-92387FC425E0}"/>
              </c:ext>
            </c:extLst>
          </c:dPt>
          <c:dPt>
            <c:idx val="3"/>
            <c:bubble3D val="0"/>
            <c:spPr>
              <a:solidFill>
                <a:srgbClr val="747474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2ED5-3C4F-9FCF-92387FC425E0}"/>
              </c:ext>
            </c:extLst>
          </c:dPt>
          <c:cat>
            <c:strRef>
              <c:f>Sheet1!$A$2:$A$5</c:f>
              <c:strCache>
                <c:ptCount val="4"/>
                <c:pt idx="0">
                  <c:v>High School</c:v>
                </c:pt>
                <c:pt idx="1">
                  <c:v>Traditional College</c:v>
                </c:pt>
                <c:pt idx="2">
                  <c:v>Middle School</c:v>
                </c:pt>
                <c:pt idx="3">
                  <c:v>ROP College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256</c:v>
                </c:pt>
                <c:pt idx="1">
                  <c:v>85</c:v>
                </c:pt>
                <c:pt idx="2">
                  <c:v>83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ED5-3C4F-9FCF-92387FC425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 identity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2B3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674-B245-A064-876CABD2D782}"/>
              </c:ext>
            </c:extLst>
          </c:dPt>
          <c:dPt>
            <c:idx val="1"/>
            <c:bubble3D val="0"/>
            <c:spPr>
              <a:solidFill>
                <a:srgbClr val="00AB69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674-B245-A064-876CABD2D782}"/>
              </c:ext>
            </c:extLst>
          </c:dPt>
          <c:dPt>
            <c:idx val="2"/>
            <c:bubble3D val="0"/>
            <c:spPr>
              <a:solidFill>
                <a:srgbClr val="FF6B00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A674-B245-A064-876CABD2D782}"/>
              </c:ext>
            </c:extLst>
          </c:dPt>
          <c:dPt>
            <c:idx val="3"/>
            <c:bubble3D val="0"/>
            <c:spPr>
              <a:solidFill>
                <a:srgbClr val="747474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A674-B245-A064-876CABD2D782}"/>
              </c:ext>
            </c:extLst>
          </c:dPt>
          <c:cat>
            <c:strRef>
              <c:f>Sheet1!$A$2:$A$5</c:f>
              <c:strCache>
                <c:ptCount val="4"/>
                <c:pt idx="0">
                  <c:v>Male</c:v>
                </c:pt>
                <c:pt idx="1">
                  <c:v>Female</c:v>
                </c:pt>
                <c:pt idx="2">
                  <c:v>Prefer not to say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337</c:v>
                </c:pt>
                <c:pt idx="1">
                  <c:v>84</c:v>
                </c:pt>
                <c:pt idx="2">
                  <c:v>8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674-B245-A064-876CABD2D7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Technology access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B69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E741-BD4B-8FA7-4C0E980D493D}"/>
              </c:ext>
            </c:extLst>
          </c:dPt>
          <c:dPt>
            <c:idx val="1"/>
            <c:bubble3D val="0"/>
            <c:spPr>
              <a:solidFill>
                <a:srgbClr val="0092B3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E741-BD4B-8FA7-4C0E980D493D}"/>
              </c:ext>
            </c:extLst>
          </c:dPt>
          <c:dPt>
            <c:idx val="2"/>
            <c:bubble3D val="0"/>
            <c:spPr>
              <a:solidFill>
                <a:srgbClr val="FF6B00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E741-BD4B-8FA7-4C0E980D493D}"/>
              </c:ext>
            </c:extLst>
          </c:dPt>
          <c:dPt>
            <c:idx val="3"/>
            <c:bubble3D val="0"/>
            <c:spPr>
              <a:solidFill>
                <a:srgbClr val="F05FAE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E741-BD4B-8FA7-4C0E980D493D}"/>
              </c:ext>
            </c:extLst>
          </c:dPt>
          <c:dPt>
            <c:idx val="4"/>
            <c:bubble3D val="0"/>
            <c:spPr>
              <a:solidFill>
                <a:srgbClr val="747474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E741-BD4B-8FA7-4C0E980D493D}"/>
              </c:ext>
            </c:extLst>
          </c:dPt>
          <c:cat>
            <c:strRef>
              <c:f>Sheet1!$A$2:$A$6</c:f>
              <c:strCache>
                <c:ptCount val="5"/>
                <c:pt idx="0">
                  <c:v>PC</c:v>
                </c:pt>
                <c:pt idx="1">
                  <c:v>Chromebook</c:v>
                </c:pt>
                <c:pt idx="2">
                  <c:v>Mac</c:v>
                </c:pt>
                <c:pt idx="3">
                  <c:v>Linux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281</c:v>
                </c:pt>
                <c:pt idx="1">
                  <c:v>72</c:v>
                </c:pt>
                <c:pt idx="2">
                  <c:v>30</c:v>
                </c:pt>
                <c:pt idx="3">
                  <c:v>29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741-BD4B-8FA7-4C0E980D49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05FAE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980-7D4D-9AC5-30E88453A721}"/>
              </c:ext>
            </c:extLst>
          </c:dPt>
          <c:dPt>
            <c:idx val="1"/>
            <c:bubble3D val="0"/>
            <c:spPr>
              <a:solidFill>
                <a:srgbClr val="FF6B00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980-7D4D-9AC5-30E88453A721}"/>
              </c:ext>
            </c:extLst>
          </c:dPt>
          <c:dPt>
            <c:idx val="2"/>
            <c:bubble3D val="0"/>
            <c:spPr>
              <a:solidFill>
                <a:srgbClr val="0092B3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9980-7D4D-9AC5-30E88453A721}"/>
              </c:ext>
            </c:extLst>
          </c:dPt>
          <c:dPt>
            <c:idx val="3"/>
            <c:bubble3D val="0"/>
            <c:spPr>
              <a:solidFill>
                <a:srgbClr val="00AB69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9980-7D4D-9AC5-30E88453A721}"/>
              </c:ext>
            </c:extLst>
          </c:dPt>
          <c:dPt>
            <c:idx val="4"/>
            <c:bubble3D val="0"/>
            <c:spPr>
              <a:solidFill>
                <a:srgbClr val="A78BFA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9980-7D4D-9AC5-30E88453A721}"/>
              </c:ext>
            </c:extLst>
          </c:dPt>
          <c:dPt>
            <c:idx val="5"/>
            <c:bubble3D val="0"/>
            <c:spPr>
              <a:solidFill>
                <a:srgbClr val="2F2D2D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9980-7D4D-9AC5-30E88453A721}"/>
              </c:ext>
            </c:extLst>
          </c:dPt>
          <c:dPt>
            <c:idx val="6"/>
            <c:bubble3D val="0"/>
            <c:spPr>
              <a:solidFill>
                <a:srgbClr val="747474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D-9980-7D4D-9AC5-30E88453A721}"/>
              </c:ext>
            </c:extLst>
          </c:dPt>
          <c:cat>
            <c:strRef>
              <c:f>Sheet1!$A$2:$A$8</c:f>
              <c:strCache>
                <c:ptCount val="7"/>
                <c:pt idx="0">
                  <c:v>Hispanic</c:v>
                </c:pt>
                <c:pt idx="1">
                  <c:v>White</c:v>
                </c:pt>
                <c:pt idx="2">
                  <c:v>Asian</c:v>
                </c:pt>
                <c:pt idx="3">
                  <c:v>Black</c:v>
                </c:pt>
                <c:pt idx="4">
                  <c:v>Other</c:v>
                </c:pt>
                <c:pt idx="5">
                  <c:v>Pacific</c:v>
                </c:pt>
                <c:pt idx="6">
                  <c:v>Native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152</c:v>
                </c:pt>
                <c:pt idx="1">
                  <c:v>125</c:v>
                </c:pt>
                <c:pt idx="2">
                  <c:v>79</c:v>
                </c:pt>
                <c:pt idx="3">
                  <c:v>46</c:v>
                </c:pt>
                <c:pt idx="4">
                  <c:v>23</c:v>
                </c:pt>
                <c:pt idx="5">
                  <c:v>5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980-7D4D-9AC5-30E88453A7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Ethnicity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2B3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C1-4C40-B8BA-34199DA7C20A}"/>
              </c:ext>
            </c:extLst>
          </c:dPt>
          <c:dPt>
            <c:idx val="1"/>
            <c:bubble3D val="0"/>
            <c:spPr>
              <a:solidFill>
                <a:srgbClr val="FF6B00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C1-4C40-B8BA-34199DA7C20A}"/>
              </c:ext>
            </c:extLst>
          </c:dPt>
          <c:cat>
            <c:strRef>
              <c:f>Sheet1!$A$2:$A$3</c:f>
              <c:strCache>
                <c:ptCount val="2"/>
                <c:pt idx="0">
                  <c:v>Not Hispanic</c:v>
                </c:pt>
                <c:pt idx="1">
                  <c:v>Hispanic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222</c:v>
                </c:pt>
                <c:pt idx="1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5C1-4C40-B8BA-34199DA7C2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Years Participating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2B3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2E6-A946-A752-CB3562A77AB0}"/>
              </c:ext>
            </c:extLst>
          </c:dPt>
          <c:dPt>
            <c:idx val="1"/>
            <c:bubble3D val="0"/>
            <c:spPr>
              <a:solidFill>
                <a:srgbClr val="00AB69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E6-A946-A752-CB3562A77AB0}"/>
              </c:ext>
            </c:extLst>
          </c:dPt>
          <c:dPt>
            <c:idx val="2"/>
            <c:bubble3D val="0"/>
            <c:spPr>
              <a:solidFill>
                <a:srgbClr val="FF6B00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92E6-A946-A752-CB3562A77AB0}"/>
              </c:ext>
            </c:extLst>
          </c:dPt>
          <c:dPt>
            <c:idx val="3"/>
            <c:bubble3D val="0"/>
            <c:spPr>
              <a:solidFill>
                <a:srgbClr val="747474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92E6-A946-A752-CB3562A77AB0}"/>
              </c:ext>
            </c:extLst>
          </c:dPt>
          <c:cat>
            <c:strRef>
              <c:f>Sheet1!$A$2:$A$5</c:f>
              <c:strCache>
                <c:ptCount val="4"/>
                <c:pt idx="0">
                  <c:v>&lt; 1 Year</c:v>
                </c:pt>
                <c:pt idx="1">
                  <c:v>1-2 Years</c:v>
                </c:pt>
                <c:pt idx="2">
                  <c:v>3-4 Years</c:v>
                </c:pt>
                <c:pt idx="3">
                  <c:v>5+ Years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288</c:v>
                </c:pt>
                <c:pt idx="1">
                  <c:v>100</c:v>
                </c:pt>
                <c:pt idx="2">
                  <c:v>24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2E6-A946-A752-CB3562A77A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 w="12700" cap="flat"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Solve type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2B3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3305-2844-B9C7-4ED2B4E1E4A5}"/>
              </c:ext>
            </c:extLst>
          </c:dPt>
          <c:dPt>
            <c:idx val="1"/>
            <c:bubble3D val="0"/>
            <c:spPr>
              <a:solidFill>
                <a:srgbClr val="F05FAE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305-2844-B9C7-4ED2B4E1E4A5}"/>
              </c:ext>
            </c:extLst>
          </c:dPt>
          <c:cat>
            <c:strRef>
              <c:f>Sheet1!$A$2:$A$3</c:f>
              <c:strCache>
                <c:ptCount val="2"/>
                <c:pt idx="0">
                  <c:v>Non-CTF</c:v>
                </c:pt>
                <c:pt idx="1">
                  <c:v>Flash CTF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8162</c:v>
                </c:pt>
                <c:pt idx="1">
                  <c:v>4665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05-2844-B9C7-4ED2B4E1E4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Outside-school solve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B69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440-E04E-A971-7DCC19CCAFEB}"/>
              </c:ext>
            </c:extLst>
          </c:dPt>
          <c:dPt>
            <c:idx val="1"/>
            <c:bubble3D val="0"/>
            <c:spPr>
              <a:solidFill>
                <a:srgbClr val="FF6B00"/>
              </a:solidFill>
              <a:ln w="1524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440-E04E-A971-7DCC19CCAFEB}"/>
              </c:ext>
            </c:extLst>
          </c:dPt>
          <c:cat>
            <c:strRef>
              <c:f>Sheet1!$A$2:$A$3</c:f>
              <c:strCache>
                <c:ptCount val="2"/>
                <c:pt idx="0">
                  <c:v>Non-CTF outside</c:v>
                </c:pt>
                <c:pt idx="1">
                  <c:v>Flash CTF outside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4568</c:v>
                </c:pt>
                <c:pt idx="1">
                  <c:v>4589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440-E04E-A971-7DCC19CCAF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Non-CTF</c:v>
                </c:pt>
              </c:strCache>
            </c:strRef>
          </c:tx>
          <c:spPr>
            <a:ln w="31750" cap="flat">
              <a:solidFill>
                <a:srgbClr val="0092B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92B3"/>
              </a:solidFill>
              <a:ln w="9525" cap="flat">
                <a:solidFill>
                  <a:srgbClr val="0092B3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Nov 2025</c:v>
                </c:pt>
                <c:pt idx="1">
                  <c:v>Dec 2025</c:v>
                </c:pt>
                <c:pt idx="2">
                  <c:v>Jan 2026</c:v>
                </c:pt>
                <c:pt idx="3">
                  <c:v>Feb 2026</c:v>
                </c:pt>
                <c:pt idx="4">
                  <c:v>Mar 2026</c:v>
                </c:pt>
                <c:pt idx="5">
                  <c:v>Apr 2026</c:v>
                </c:pt>
                <c:pt idx="6">
                  <c:v>May 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</c:v>
                </c:pt>
                <c:pt idx="1">
                  <c:v>3</c:v>
                </c:pt>
                <c:pt idx="2">
                  <c:v>784</c:v>
                </c:pt>
                <c:pt idx="3">
                  <c:v>2775</c:v>
                </c:pt>
                <c:pt idx="4">
                  <c:v>2338</c:v>
                </c:pt>
                <c:pt idx="5">
                  <c:v>1739</c:v>
                </c:pt>
                <c:pt idx="6">
                  <c:v>131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0CA-454A-ACFD-1FD3EB2A89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Flash CTF</c:v>
                </c:pt>
              </c:strCache>
            </c:strRef>
          </c:tx>
          <c:spPr>
            <a:ln w="31750" cap="flat">
              <a:solidFill>
                <a:srgbClr val="F05FA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05FAE"/>
              </a:solidFill>
              <a:ln w="9525" cap="flat">
                <a:solidFill>
                  <a:srgbClr val="F05FA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Nov 2025</c:v>
                </c:pt>
                <c:pt idx="1">
                  <c:v>Dec 2025</c:v>
                </c:pt>
                <c:pt idx="2">
                  <c:v>Jan 2026</c:v>
                </c:pt>
                <c:pt idx="3">
                  <c:v>Feb 2026</c:v>
                </c:pt>
                <c:pt idx="4">
                  <c:v>Mar 2026</c:v>
                </c:pt>
                <c:pt idx="5">
                  <c:v>Apr 2026</c:v>
                </c:pt>
                <c:pt idx="6">
                  <c:v>May 2026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37</c:v>
                </c:pt>
                <c:pt idx="3">
                  <c:v>59</c:v>
                </c:pt>
                <c:pt idx="4">
                  <c:v>41</c:v>
                </c:pt>
                <c:pt idx="5">
                  <c:v>4244</c:v>
                </c:pt>
                <c:pt idx="6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0CA-454A-ACFD-1FD3EB2A8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47474"/>
                </a:solidFill>
                <a:latin typeface="Rajdhan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8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47474"/>
                </a:solidFill>
                <a:latin typeface="Rajdhan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7818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-1188720"/>
            <a:ext cx="4297680" cy="42976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9006840" y="2926080"/>
            <a:ext cx="4754880" cy="4754880"/>
          </a:xfrm>
          <a:prstGeom prst="arc">
            <a:avLst/>
          </a:prstGeom>
          <a:solidFill>
            <a:srgbClr val="151515">
              <a:alpha val="0"/>
            </a:srgbClr>
          </a:solidFill>
          <a:ln w="228600">
            <a:solidFill>
              <a:srgbClr val="00AB6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0624" y="246888"/>
            <a:ext cx="2103120" cy="1159710"/>
          </a:xfrm>
          <a:prstGeom prst="roundRect">
            <a:avLst>
              <a:gd name="adj" fmla="val 3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Users/scottyoung/Cursor Projects/coach-dashboared/docs/Surveys/brand-assets/cmcc-2026-logo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92608"/>
            <a:ext cx="1993392" cy="10682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" y="14173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1874520"/>
            <a:ext cx="8021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COACHES, COMPETITORS AND GAME-PLATFORM ENGAGEMENT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493776" y="3657600"/>
            <a:ext cx="6858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8368" y="3822192"/>
            <a:ext cx="6528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program-wide snapshot of enrollment, demographics, compliance, and cyber-challenge activity across all coaches.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93776" y="4892040"/>
            <a:ext cx="3154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" y="5065776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545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658368" y="5596128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COMPETITORS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886200" y="4892040"/>
            <a:ext cx="3154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050792" y="5065776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36</a:t>
            </a:r>
            <a:endParaRPr lang="en-US" sz="3100" dirty="0"/>
          </a:p>
        </p:txBody>
      </p:sp>
      <p:sp>
        <p:nvSpPr>
          <p:cNvPr id="16" name="Text 13"/>
          <p:cNvSpPr/>
          <p:nvPr/>
        </p:nvSpPr>
        <p:spPr>
          <a:xfrm>
            <a:off x="4050792" y="5596128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COACHES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278624" y="4892040"/>
            <a:ext cx="3154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43216" y="5065776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12,827</a:t>
            </a:r>
            <a:endParaRPr lang="en-US" sz="3100" dirty="0"/>
          </a:p>
        </p:txBody>
      </p:sp>
      <p:sp>
        <p:nvSpPr>
          <p:cNvPr id="19" name="Text 16"/>
          <p:cNvSpPr/>
          <p:nvPr/>
        </p:nvSpPr>
        <p:spPr>
          <a:xfrm>
            <a:off x="7443216" y="5596128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CHALLENGES SOLVED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75488" y="64648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8C8C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0972800" y="64648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8C8C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-1188720"/>
            <a:ext cx="4297680" cy="42976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9006840" y="2926080"/>
            <a:ext cx="4754880" cy="4754880"/>
          </a:xfrm>
          <a:prstGeom prst="arc">
            <a:avLst/>
          </a:prstGeom>
          <a:solidFill>
            <a:srgbClr val="F5F5F5">
              <a:alpha val="0"/>
            </a:srgbClr>
          </a:solidFill>
          <a:ln w="228600">
            <a:solidFill>
              <a:srgbClr val="0092B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scottyoung/Cursor Projects/coach-dashboared/docs/Surveys/brand-assets/cmcc-2026-logo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1298448" cy="695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393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15400" y="393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DATA AS OF MAY 18,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1234440"/>
            <a:ext cx="7726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PROGRAM AT A GLANCE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12064" y="2761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545 competitors across 36 coaches and 58 teams; 264 are fully in the game.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75488" y="64648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648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40080" y="35204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04672" y="3694176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36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804672" y="422452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ACTIVE COACHES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429000" y="35204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593592" y="3694176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545</a:t>
            </a:r>
            <a:endParaRPr lang="en-US" sz="3100" dirty="0"/>
          </a:p>
        </p:txBody>
      </p:sp>
      <p:sp>
        <p:nvSpPr>
          <p:cNvPr id="17" name="Text 14"/>
          <p:cNvSpPr/>
          <p:nvPr/>
        </p:nvSpPr>
        <p:spPr>
          <a:xfrm>
            <a:off x="3593592" y="422452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REGISTERED COMPETITORS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17920" y="35204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82512" y="3694176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58</a:t>
            </a:r>
            <a:endParaRPr lang="en-US" sz="3100" dirty="0"/>
          </a:p>
        </p:txBody>
      </p:sp>
      <p:sp>
        <p:nvSpPr>
          <p:cNvPr id="20" name="Text 17"/>
          <p:cNvSpPr/>
          <p:nvPr/>
        </p:nvSpPr>
        <p:spPr>
          <a:xfrm>
            <a:off x="6382512" y="422452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TEAMS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006840" y="35204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71432" y="3694176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34</a:t>
            </a:r>
            <a:endParaRPr lang="en-US" sz="3100" dirty="0"/>
          </a:p>
        </p:txBody>
      </p:sp>
      <p:sp>
        <p:nvSpPr>
          <p:cNvPr id="23" name="Text 20"/>
          <p:cNvSpPr/>
          <p:nvPr/>
        </p:nvSpPr>
        <p:spPr>
          <a:xfrm>
            <a:off x="9171432" y="422452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SCHOOLS ON MAP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4846320"/>
            <a:ext cx="103784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04672" y="4992624"/>
            <a:ext cx="10049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SNAPSHOT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804672" y="5349240"/>
            <a:ext cx="100492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545 competitors across 36 coaches and 58 teams. 264 are fully "in the game," and cyber engagement totals 12,827 solved challenges - 8,162 non-CTF and 4,665 Flash CTF.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-1188720"/>
            <a:ext cx="4297680" cy="42976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9006840" y="2926080"/>
            <a:ext cx="4754880" cy="4754880"/>
          </a:xfrm>
          <a:prstGeom prst="arc">
            <a:avLst/>
          </a:prstGeom>
          <a:solidFill>
            <a:srgbClr val="F5F5F5">
              <a:alpha val="0"/>
            </a:srgbClr>
          </a:solidFill>
          <a:ln w="228600">
            <a:solidFill>
              <a:srgbClr val="0092B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scottyoung/Cursor Projects/coach-dashboared/docs/Surveys/brand-assets/cmcc-2026-logo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1298448" cy="695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393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15400" y="393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DATA AS OF MAY 18,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1234440"/>
            <a:ext cx="7726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COMPETITOR STATUS DISTRIBUTION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12064" y="2761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pipeline is split between fully active competitors, non-compliant in-game participants, and pending onboarding.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75488" y="64648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648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03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11142" y="3388930"/>
            <a:ext cx="64008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75734" y="3535234"/>
            <a:ext cx="607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STATUS MIX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85462" y="391013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Game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2385662" y="3919282"/>
            <a:ext cx="363016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385662" y="3919282"/>
            <a:ext cx="3630168" cy="146304"/>
          </a:xfrm>
          <a:prstGeom prst="roundRect">
            <a:avLst>
              <a:gd name="adj" fmla="val 18750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16414" y="391013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264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85462" y="424160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Game (NC)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2385662" y="4250752"/>
            <a:ext cx="363016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385662" y="4250752"/>
            <a:ext cx="2282606" cy="146304"/>
          </a:xfrm>
          <a:prstGeom prst="roundRect">
            <a:avLst>
              <a:gd name="adj" fmla="val 18750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116414" y="42416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166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85462" y="457307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2385662" y="4582222"/>
            <a:ext cx="363016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385662" y="4582222"/>
            <a:ext cx="1553822" cy="146304"/>
          </a:xfrm>
          <a:prstGeom prst="roundRect">
            <a:avLst>
              <a:gd name="adj" fmla="val 18750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116414" y="457307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113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85462" y="490454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2385662" y="4913692"/>
            <a:ext cx="363016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385662" y="4913692"/>
            <a:ext cx="45720" cy="146304"/>
          </a:xfrm>
          <a:prstGeom prst="roundRect">
            <a:avLst>
              <a:gd name="adj" fmla="val 60000"/>
            </a:avLst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116414" y="490454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498080" y="3337560"/>
            <a:ext cx="34747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662672" y="351129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545</a:t>
            </a:r>
            <a:endParaRPr lang="en-US" sz="3100" dirty="0"/>
          </a:p>
        </p:txBody>
      </p:sp>
      <p:sp>
        <p:nvSpPr>
          <p:cNvPr id="32" name="Text 29"/>
          <p:cNvSpPr/>
          <p:nvPr/>
        </p:nvSpPr>
        <p:spPr>
          <a:xfrm>
            <a:off x="7662672" y="404164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TOTAL COMPETITORS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498080" y="4233672"/>
            <a:ext cx="34747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662672" y="440740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264</a:t>
            </a:r>
            <a:endParaRPr lang="en-US" sz="3100" dirty="0"/>
          </a:p>
        </p:txBody>
      </p:sp>
      <p:sp>
        <p:nvSpPr>
          <p:cNvPr id="35" name="Text 32"/>
          <p:cNvSpPr/>
          <p:nvPr/>
        </p:nvSpPr>
        <p:spPr>
          <a:xfrm>
            <a:off x="7662672" y="493776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FULLY COMPLIANT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7498080" y="5129784"/>
            <a:ext cx="34747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662672" y="530352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113</a:t>
            </a:r>
            <a:endParaRPr lang="en-US" sz="3100" dirty="0"/>
          </a:p>
        </p:txBody>
      </p:sp>
      <p:sp>
        <p:nvSpPr>
          <p:cNvPr id="38" name="Text 35"/>
          <p:cNvSpPr/>
          <p:nvPr/>
        </p:nvSpPr>
        <p:spPr>
          <a:xfrm>
            <a:off x="7662672" y="583387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PENDING ONBOARDING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-1188720"/>
            <a:ext cx="4297680" cy="42976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9006840" y="2926080"/>
            <a:ext cx="4754880" cy="4754880"/>
          </a:xfrm>
          <a:prstGeom prst="arc">
            <a:avLst/>
          </a:prstGeom>
          <a:solidFill>
            <a:srgbClr val="F5F5F5">
              <a:alpha val="0"/>
            </a:srgbClr>
          </a:solidFill>
          <a:ln w="228600">
            <a:solidFill>
              <a:srgbClr val="0092B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scottyoung/Cursor Projects/coach-dashboared/docs/Surveys/brand-assets/cmcc-2026-logo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1298448" cy="695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393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15400" y="393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DATA AS OF MAY 18,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1234440"/>
            <a:ext cx="7726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RELEASE AND AGREEMENT PIPELINE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12064" y="2761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545 competitors, 269 have a completed release on file; 96 are in flight and 180 have not started.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75488" y="64648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648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04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85800" y="370332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0392" y="387705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180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850392" y="440740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NOT STARTED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50392" y="466344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47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agreement activity yet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34840" y="370332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99432" y="387705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96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4599432" y="440740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99432" y="466344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47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Awaiting signature / completion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183880" y="370332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348472" y="387705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269</a:t>
            </a:r>
            <a:endParaRPr lang="en-US" sz="3100" dirty="0"/>
          </a:p>
        </p:txBody>
      </p:sp>
      <p:sp>
        <p:nvSpPr>
          <p:cNvPr id="22" name="Text 19"/>
          <p:cNvSpPr/>
          <p:nvPr/>
        </p:nvSpPr>
        <p:spPr>
          <a:xfrm>
            <a:off x="8348472" y="440740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COMPLETE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348472" y="466344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47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or manual release on file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-1188720"/>
            <a:ext cx="4297680" cy="42976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9006840" y="2926080"/>
            <a:ext cx="4754880" cy="4754880"/>
          </a:xfrm>
          <a:prstGeom prst="arc">
            <a:avLst/>
          </a:prstGeom>
          <a:solidFill>
            <a:srgbClr val="F5F5F5">
              <a:alpha val="0"/>
            </a:srgbClr>
          </a:solidFill>
          <a:ln w="228600">
            <a:solidFill>
              <a:srgbClr val="0092B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scottyoung/Cursor Projects/coach-dashboared/docs/Surveys/brand-assets/cmcc-2026-logo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1298448" cy="695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393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ENROLLMENT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15400" y="393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DATA AS OF MAY 18,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1234440"/>
            <a:ext cx="7726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DIVISION AND COLLEGE-TRACK MIX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12064" y="2761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432 eligible competitors are concentrated in high school, with college and middle-school segments still material.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75488" y="64648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648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05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00867" y="3429000"/>
            <a:ext cx="2148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5459" y="3602736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432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665459" y="413308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ELIGIBLE COMPETITORS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063240" y="3429000"/>
            <a:ext cx="5638971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27832" y="3575304"/>
            <a:ext cx="7488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DIVISION MIX</a:t>
            </a:r>
            <a:endParaRPr lang="en-US" sz="17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246120" y="3931920"/>
          <a:ext cx="251460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5989320" y="40690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208776" y="4041648"/>
            <a:ext cx="3429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School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605860" y="4032504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514420" y="408279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256</a:t>
            </a:r>
            <a:endParaRPr lang="en-US" sz="780" dirty="0"/>
          </a:p>
        </p:txBody>
      </p:sp>
      <p:sp>
        <p:nvSpPr>
          <p:cNvPr id="22" name="Text 18"/>
          <p:cNvSpPr/>
          <p:nvPr/>
        </p:nvSpPr>
        <p:spPr>
          <a:xfrm>
            <a:off x="7935044" y="402336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59%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989320" y="44988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208776" y="4471416"/>
            <a:ext cx="3429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College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7605860" y="4462272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7514420" y="4512564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85</a:t>
            </a:r>
            <a:endParaRPr lang="en-US" sz="780" dirty="0"/>
          </a:p>
        </p:txBody>
      </p:sp>
      <p:sp>
        <p:nvSpPr>
          <p:cNvPr id="27" name="Text 23"/>
          <p:cNvSpPr/>
          <p:nvPr/>
        </p:nvSpPr>
        <p:spPr>
          <a:xfrm>
            <a:off x="7935044" y="445312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20%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989320" y="49286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208776" y="4901184"/>
            <a:ext cx="3429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School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605860" y="4892040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7514420" y="494233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83</a:t>
            </a:r>
            <a:endParaRPr lang="en-US" sz="780" dirty="0"/>
          </a:p>
        </p:txBody>
      </p:sp>
      <p:sp>
        <p:nvSpPr>
          <p:cNvPr id="32" name="Text 28"/>
          <p:cNvSpPr/>
          <p:nvPr/>
        </p:nvSpPr>
        <p:spPr>
          <a:xfrm>
            <a:off x="7935044" y="48828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19%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5989320" y="535838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6208776" y="5330952"/>
            <a:ext cx="3429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ROP College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7605860" y="5321808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7514420" y="537210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8</a:t>
            </a:r>
            <a:endParaRPr lang="en-US" sz="780" dirty="0"/>
          </a:p>
        </p:txBody>
      </p:sp>
      <p:sp>
        <p:nvSpPr>
          <p:cNvPr id="37" name="Text 33"/>
          <p:cNvSpPr/>
          <p:nvPr/>
        </p:nvSpPr>
        <p:spPr>
          <a:xfrm>
            <a:off x="7935044" y="531266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2%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-1188720"/>
            <a:ext cx="4297680" cy="42976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9006840" y="2926080"/>
            <a:ext cx="4754880" cy="4754880"/>
          </a:xfrm>
          <a:prstGeom prst="arc">
            <a:avLst/>
          </a:prstGeom>
          <a:solidFill>
            <a:srgbClr val="F5F5F5">
              <a:alpha val="0"/>
            </a:srgbClr>
          </a:solidFill>
          <a:ln w="228600">
            <a:solidFill>
              <a:srgbClr val="0092B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scottyoung/Cursor Projects/coach-dashboared/docs/Surveys/brand-assets/cmcc-2026-logo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1298448" cy="695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393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15400" y="393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DATA AS OF MAY 18,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1234440"/>
            <a:ext cx="7726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GENDER AND TECHNOLOGY ACCESS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12064" y="2761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competitor base is heavily PC-oriented, with Chromebook, Mac, and Linux access also present.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75488" y="64648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648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06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21416" y="3429000"/>
            <a:ext cx="507492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6008" y="357530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GENDER IDENTITY</a:t>
            </a:r>
            <a:endParaRPr lang="en-US" sz="17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2340441073"/>
              </p:ext>
            </p:extLst>
          </p:nvPr>
        </p:nvGraphicFramePr>
        <p:xfrm>
          <a:off x="704296" y="3931920"/>
          <a:ext cx="2131466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1"/>
          <p:cNvSpPr/>
          <p:nvPr/>
        </p:nvSpPr>
        <p:spPr>
          <a:xfrm>
            <a:off x="3064362" y="40690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283818" y="4041648"/>
            <a:ext cx="106893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416760" y="4032504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325320" y="408279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337</a:t>
            </a:r>
            <a:endParaRPr lang="en-US" sz="780" dirty="0"/>
          </a:p>
        </p:txBody>
      </p:sp>
      <p:sp>
        <p:nvSpPr>
          <p:cNvPr id="19" name="Text 15"/>
          <p:cNvSpPr/>
          <p:nvPr/>
        </p:nvSpPr>
        <p:spPr>
          <a:xfrm>
            <a:off x="4745944" y="402336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78%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064362" y="44988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283818" y="4471416"/>
            <a:ext cx="106893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Female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416760" y="4462272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325320" y="4512564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84</a:t>
            </a:r>
            <a:endParaRPr lang="en-US" sz="780" dirty="0"/>
          </a:p>
        </p:txBody>
      </p:sp>
      <p:sp>
        <p:nvSpPr>
          <p:cNvPr id="24" name="Text 20"/>
          <p:cNvSpPr/>
          <p:nvPr/>
        </p:nvSpPr>
        <p:spPr>
          <a:xfrm>
            <a:off x="4745944" y="445312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19%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3064362" y="49286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283818" y="4901184"/>
            <a:ext cx="106893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not to say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416760" y="4892040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325320" y="494233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8</a:t>
            </a:r>
            <a:endParaRPr lang="en-US" sz="780" dirty="0"/>
          </a:p>
        </p:txBody>
      </p:sp>
      <p:sp>
        <p:nvSpPr>
          <p:cNvPr id="29" name="Text 25"/>
          <p:cNvSpPr/>
          <p:nvPr/>
        </p:nvSpPr>
        <p:spPr>
          <a:xfrm>
            <a:off x="4745944" y="48828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2%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3064362" y="535838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3283818" y="5330952"/>
            <a:ext cx="106893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416760" y="5321808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4325320" y="537210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</a:t>
            </a:r>
            <a:endParaRPr lang="en-US" sz="780" dirty="0"/>
          </a:p>
        </p:txBody>
      </p:sp>
      <p:sp>
        <p:nvSpPr>
          <p:cNvPr id="34" name="Text 30"/>
          <p:cNvSpPr/>
          <p:nvPr/>
        </p:nvSpPr>
        <p:spPr>
          <a:xfrm>
            <a:off x="4745944" y="531266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1%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5989320" y="3429000"/>
            <a:ext cx="507492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6153912" y="357530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TECHNOLOGY ACCESS</a:t>
            </a:r>
            <a:endParaRPr lang="en-US" sz="1700" dirty="0"/>
          </a:p>
        </p:txBody>
      </p:sp>
      <p:graphicFrame>
        <p:nvGraphicFramePr>
          <p:cNvPr id="37" name="Chart 1"/>
          <p:cNvGraphicFramePr/>
          <p:nvPr/>
        </p:nvGraphicFramePr>
        <p:xfrm>
          <a:off x="6172200" y="3931920"/>
          <a:ext cx="2131466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8" name="Shape 33"/>
          <p:cNvSpPr/>
          <p:nvPr/>
        </p:nvSpPr>
        <p:spPr>
          <a:xfrm>
            <a:off x="8532266" y="40690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8751722" y="4041648"/>
            <a:ext cx="1068934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9884664" y="4032504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9793224" y="408279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281</a:t>
            </a:r>
            <a:endParaRPr lang="en-US" sz="780" dirty="0"/>
          </a:p>
        </p:txBody>
      </p:sp>
      <p:sp>
        <p:nvSpPr>
          <p:cNvPr id="42" name="Text 37"/>
          <p:cNvSpPr/>
          <p:nvPr/>
        </p:nvSpPr>
        <p:spPr>
          <a:xfrm>
            <a:off x="10213848" y="402336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65%</a:t>
            </a:r>
            <a:endParaRPr lang="en-US" sz="1600" dirty="0"/>
          </a:p>
        </p:txBody>
      </p:sp>
      <p:sp>
        <p:nvSpPr>
          <p:cNvPr id="43" name="Shape 38"/>
          <p:cNvSpPr/>
          <p:nvPr/>
        </p:nvSpPr>
        <p:spPr>
          <a:xfrm>
            <a:off x="8532266" y="441289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/>
          <p:nvPr/>
        </p:nvSpPr>
        <p:spPr>
          <a:xfrm>
            <a:off x="8751722" y="4385462"/>
            <a:ext cx="1068934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Chromebook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9884664" y="4376318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9793224" y="442661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72</a:t>
            </a:r>
            <a:endParaRPr lang="en-US" sz="780" dirty="0"/>
          </a:p>
        </p:txBody>
      </p:sp>
      <p:sp>
        <p:nvSpPr>
          <p:cNvPr id="47" name="Text 42"/>
          <p:cNvSpPr/>
          <p:nvPr/>
        </p:nvSpPr>
        <p:spPr>
          <a:xfrm>
            <a:off x="10213848" y="436717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17%</a:t>
            </a:r>
            <a:endParaRPr lang="en-US" sz="1600" dirty="0"/>
          </a:p>
        </p:txBody>
      </p:sp>
      <p:sp>
        <p:nvSpPr>
          <p:cNvPr id="48" name="Shape 43"/>
          <p:cNvSpPr/>
          <p:nvPr/>
        </p:nvSpPr>
        <p:spPr>
          <a:xfrm>
            <a:off x="8532266" y="4756709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8751722" y="4729277"/>
            <a:ext cx="1068934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9884664" y="4720133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9793224" y="4770425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30</a:t>
            </a:r>
            <a:endParaRPr lang="en-US" sz="780" dirty="0"/>
          </a:p>
        </p:txBody>
      </p:sp>
      <p:sp>
        <p:nvSpPr>
          <p:cNvPr id="52" name="Text 47"/>
          <p:cNvSpPr/>
          <p:nvPr/>
        </p:nvSpPr>
        <p:spPr>
          <a:xfrm>
            <a:off x="10213848" y="4710989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7%</a:t>
            </a:r>
            <a:endParaRPr lang="en-US" sz="1600" dirty="0"/>
          </a:p>
        </p:txBody>
      </p:sp>
      <p:sp>
        <p:nvSpPr>
          <p:cNvPr id="53" name="Shape 48"/>
          <p:cNvSpPr/>
          <p:nvPr/>
        </p:nvSpPr>
        <p:spPr>
          <a:xfrm>
            <a:off x="8532266" y="5100523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/>
          <p:nvPr/>
        </p:nvSpPr>
        <p:spPr>
          <a:xfrm>
            <a:off x="8751722" y="5073091"/>
            <a:ext cx="1068934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</a:t>
            </a: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9884664" y="5063947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1"/>
          <p:cNvSpPr/>
          <p:nvPr/>
        </p:nvSpPr>
        <p:spPr>
          <a:xfrm>
            <a:off x="9793224" y="5114239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29</a:t>
            </a:r>
            <a:endParaRPr lang="en-US" sz="780" dirty="0"/>
          </a:p>
        </p:txBody>
      </p:sp>
      <p:sp>
        <p:nvSpPr>
          <p:cNvPr id="57" name="Text 52"/>
          <p:cNvSpPr/>
          <p:nvPr/>
        </p:nvSpPr>
        <p:spPr>
          <a:xfrm>
            <a:off x="10213848" y="5054803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7%</a:t>
            </a:r>
            <a:endParaRPr lang="en-US" sz="1600" dirty="0"/>
          </a:p>
        </p:txBody>
      </p:sp>
      <p:sp>
        <p:nvSpPr>
          <p:cNvPr id="58" name="Shape 53"/>
          <p:cNvSpPr/>
          <p:nvPr/>
        </p:nvSpPr>
        <p:spPr>
          <a:xfrm>
            <a:off x="8532266" y="544433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4"/>
          <p:cNvSpPr/>
          <p:nvPr/>
        </p:nvSpPr>
        <p:spPr>
          <a:xfrm>
            <a:off x="8751722" y="5416906"/>
            <a:ext cx="1068934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</a:t>
            </a:r>
            <a:endParaRPr lang="en-US" sz="950" dirty="0"/>
          </a:p>
        </p:txBody>
      </p:sp>
      <p:sp>
        <p:nvSpPr>
          <p:cNvPr id="60" name="Shape 55"/>
          <p:cNvSpPr/>
          <p:nvPr/>
        </p:nvSpPr>
        <p:spPr>
          <a:xfrm>
            <a:off x="9884664" y="5407762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6"/>
          <p:cNvSpPr/>
          <p:nvPr/>
        </p:nvSpPr>
        <p:spPr>
          <a:xfrm>
            <a:off x="9793224" y="5458054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20</a:t>
            </a:r>
            <a:endParaRPr lang="en-US" sz="780" dirty="0"/>
          </a:p>
        </p:txBody>
      </p:sp>
      <p:sp>
        <p:nvSpPr>
          <p:cNvPr id="62" name="Text 57"/>
          <p:cNvSpPr/>
          <p:nvPr/>
        </p:nvSpPr>
        <p:spPr>
          <a:xfrm>
            <a:off x="10213848" y="539861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-1188720"/>
            <a:ext cx="4297680" cy="42976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9006840" y="2926080"/>
            <a:ext cx="4754880" cy="4754880"/>
          </a:xfrm>
          <a:prstGeom prst="arc">
            <a:avLst/>
          </a:prstGeom>
          <a:solidFill>
            <a:srgbClr val="F5F5F5">
              <a:alpha val="0"/>
            </a:srgbClr>
          </a:solidFill>
          <a:ln w="228600">
            <a:solidFill>
              <a:srgbClr val="0092B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scottyoung/Cursor Projects/coach-dashboared/docs/Surveys/brand-assets/cmcc-2026-logo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1298448" cy="695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393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15400" y="393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DATA AS OF MAY 18,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1234440"/>
            <a:ext cx="7726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RACE AND ETHNICITY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12064" y="2761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Race and ethnicity fields show a broad mix, with Hispanic identity represented both in race and ethnicity reporting.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75488" y="64648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648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07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85800" y="3429000"/>
            <a:ext cx="517047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0392" y="3575304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RACE</a:t>
            </a:r>
            <a:endParaRPr lang="en-US" sz="17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868680" y="3931920"/>
          <a:ext cx="2438705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1"/>
          <p:cNvSpPr/>
          <p:nvPr/>
        </p:nvSpPr>
        <p:spPr>
          <a:xfrm>
            <a:off x="3535985" y="40690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755441" y="4041648"/>
            <a:ext cx="1493215" cy="17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Hispanic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65394" y="4032504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625325" y="408279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152</a:t>
            </a:r>
            <a:endParaRPr lang="en-US" sz="780" dirty="0"/>
          </a:p>
        </p:txBody>
      </p:sp>
      <p:sp>
        <p:nvSpPr>
          <p:cNvPr id="19" name="Text 15"/>
          <p:cNvSpPr/>
          <p:nvPr/>
        </p:nvSpPr>
        <p:spPr>
          <a:xfrm>
            <a:off x="4994578" y="402336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35%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535985" y="4321193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755441" y="4293761"/>
            <a:ext cx="1493215" cy="17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665394" y="4284617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625325" y="4334909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125</a:t>
            </a:r>
            <a:endParaRPr lang="en-US" sz="780" dirty="0"/>
          </a:p>
        </p:txBody>
      </p:sp>
      <p:sp>
        <p:nvSpPr>
          <p:cNvPr id="24" name="Text 20"/>
          <p:cNvSpPr/>
          <p:nvPr/>
        </p:nvSpPr>
        <p:spPr>
          <a:xfrm>
            <a:off x="4994578" y="4275473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29%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3535985" y="457330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755441" y="4545874"/>
            <a:ext cx="1493215" cy="17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Asian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665394" y="4536730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625325" y="458702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79</a:t>
            </a:r>
            <a:endParaRPr lang="en-US" sz="780" dirty="0"/>
          </a:p>
        </p:txBody>
      </p:sp>
      <p:sp>
        <p:nvSpPr>
          <p:cNvPr id="29" name="Text 25"/>
          <p:cNvSpPr/>
          <p:nvPr/>
        </p:nvSpPr>
        <p:spPr>
          <a:xfrm>
            <a:off x="4994578" y="452758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18%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3535985" y="4825419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3755441" y="4797987"/>
            <a:ext cx="1493215" cy="17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665394" y="4788843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4625325" y="4839135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46</a:t>
            </a:r>
            <a:endParaRPr lang="en-US" sz="780" dirty="0"/>
          </a:p>
        </p:txBody>
      </p:sp>
      <p:sp>
        <p:nvSpPr>
          <p:cNvPr id="34" name="Text 30"/>
          <p:cNvSpPr/>
          <p:nvPr/>
        </p:nvSpPr>
        <p:spPr>
          <a:xfrm>
            <a:off x="4994578" y="4779699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11%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3535985" y="5077533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755441" y="5050101"/>
            <a:ext cx="1493215" cy="17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665394" y="5040957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4625325" y="5091249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23</a:t>
            </a:r>
            <a:endParaRPr lang="en-US" sz="780" dirty="0"/>
          </a:p>
        </p:txBody>
      </p:sp>
      <p:sp>
        <p:nvSpPr>
          <p:cNvPr id="39" name="Text 35"/>
          <p:cNvSpPr/>
          <p:nvPr/>
        </p:nvSpPr>
        <p:spPr>
          <a:xfrm>
            <a:off x="4994578" y="5031813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5%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3535985" y="532964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F2D2D"/>
          </a:solidFill>
          <a:ln w="12700">
            <a:solidFill>
              <a:srgbClr val="2F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3755441" y="5302214"/>
            <a:ext cx="1493215" cy="17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Pacific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4665394" y="5293070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2F2D2D"/>
          </a:solidFill>
          <a:ln w="12700">
            <a:solidFill>
              <a:srgbClr val="2F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4625325" y="534336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</a:t>
            </a:r>
            <a:endParaRPr lang="en-US" sz="780" dirty="0"/>
          </a:p>
        </p:txBody>
      </p:sp>
      <p:sp>
        <p:nvSpPr>
          <p:cNvPr id="44" name="Text 40"/>
          <p:cNvSpPr/>
          <p:nvPr/>
        </p:nvSpPr>
        <p:spPr>
          <a:xfrm>
            <a:off x="4994578" y="528392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1%</a:t>
            </a:r>
            <a:endParaRPr lang="en-US" sz="1600" dirty="0"/>
          </a:p>
        </p:txBody>
      </p:sp>
      <p:sp>
        <p:nvSpPr>
          <p:cNvPr id="45" name="Shape 41"/>
          <p:cNvSpPr/>
          <p:nvPr/>
        </p:nvSpPr>
        <p:spPr>
          <a:xfrm>
            <a:off x="3535985" y="5581759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3755441" y="5554327"/>
            <a:ext cx="1493215" cy="17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4665394" y="5545183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4625325" y="5595475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</a:t>
            </a:r>
            <a:endParaRPr lang="en-US" sz="780" dirty="0"/>
          </a:p>
        </p:txBody>
      </p:sp>
      <p:sp>
        <p:nvSpPr>
          <p:cNvPr id="49" name="Text 45"/>
          <p:cNvSpPr/>
          <p:nvPr/>
        </p:nvSpPr>
        <p:spPr>
          <a:xfrm>
            <a:off x="4994578" y="5536039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0%</a:t>
            </a:r>
            <a:endParaRPr lang="en-US" sz="1600" dirty="0"/>
          </a:p>
        </p:txBody>
      </p:sp>
      <p:sp>
        <p:nvSpPr>
          <p:cNvPr id="50" name="Shape 46"/>
          <p:cNvSpPr/>
          <p:nvPr/>
        </p:nvSpPr>
        <p:spPr>
          <a:xfrm>
            <a:off x="6402342" y="3429000"/>
            <a:ext cx="43891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6566934" y="3575304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ETHNICITY</a:t>
            </a:r>
            <a:endParaRPr lang="en-US" sz="1700" dirty="0"/>
          </a:p>
        </p:txBody>
      </p:sp>
      <p:graphicFrame>
        <p:nvGraphicFramePr>
          <p:cNvPr id="52" name="Chart 1"/>
          <p:cNvGraphicFramePr/>
          <p:nvPr>
            <p:extLst>
              <p:ext uri="{D42A27DB-BD31-4B8C-83A1-F6EECF244321}">
                <p14:modId xmlns:p14="http://schemas.microsoft.com/office/powerpoint/2010/main" val="4198328304"/>
              </p:ext>
            </p:extLst>
          </p:nvPr>
        </p:nvGraphicFramePr>
        <p:xfrm>
          <a:off x="6585222" y="3931920"/>
          <a:ext cx="16002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3" name="Shape 48"/>
          <p:cNvSpPr/>
          <p:nvPr/>
        </p:nvSpPr>
        <p:spPr>
          <a:xfrm>
            <a:off x="8414022" y="40690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/>
          <p:nvPr/>
        </p:nvSpPr>
        <p:spPr>
          <a:xfrm>
            <a:off x="8633478" y="4041648"/>
            <a:ext cx="9144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Hispanic</a:t>
            </a: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9611886" y="4032504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1"/>
          <p:cNvSpPr/>
          <p:nvPr/>
        </p:nvSpPr>
        <p:spPr>
          <a:xfrm>
            <a:off x="9520446" y="408279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222</a:t>
            </a:r>
            <a:endParaRPr lang="en-US" sz="780" dirty="0"/>
          </a:p>
        </p:txBody>
      </p:sp>
      <p:sp>
        <p:nvSpPr>
          <p:cNvPr id="57" name="Text 52"/>
          <p:cNvSpPr/>
          <p:nvPr/>
        </p:nvSpPr>
        <p:spPr>
          <a:xfrm>
            <a:off x="9941070" y="402336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51%</a:t>
            </a:r>
            <a:endParaRPr lang="en-US" sz="1600" dirty="0"/>
          </a:p>
        </p:txBody>
      </p:sp>
      <p:sp>
        <p:nvSpPr>
          <p:cNvPr id="58" name="Shape 53"/>
          <p:cNvSpPr/>
          <p:nvPr/>
        </p:nvSpPr>
        <p:spPr>
          <a:xfrm>
            <a:off x="8414022" y="49514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4"/>
          <p:cNvSpPr/>
          <p:nvPr/>
        </p:nvSpPr>
        <p:spPr>
          <a:xfrm>
            <a:off x="8633478" y="4924044"/>
            <a:ext cx="9144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Hispanic</a:t>
            </a:r>
            <a:endParaRPr lang="en-US" sz="950" dirty="0"/>
          </a:p>
        </p:txBody>
      </p:sp>
      <p:sp>
        <p:nvSpPr>
          <p:cNvPr id="60" name="Shape 55"/>
          <p:cNvSpPr/>
          <p:nvPr/>
        </p:nvSpPr>
        <p:spPr>
          <a:xfrm>
            <a:off x="9611886" y="4914900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6"/>
          <p:cNvSpPr/>
          <p:nvPr/>
        </p:nvSpPr>
        <p:spPr>
          <a:xfrm>
            <a:off x="9520446" y="496519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210</a:t>
            </a:r>
            <a:endParaRPr lang="en-US" sz="780" dirty="0"/>
          </a:p>
        </p:txBody>
      </p:sp>
      <p:sp>
        <p:nvSpPr>
          <p:cNvPr id="62" name="Text 57"/>
          <p:cNvSpPr/>
          <p:nvPr/>
        </p:nvSpPr>
        <p:spPr>
          <a:xfrm>
            <a:off x="9941070" y="490575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49%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-1188720"/>
            <a:ext cx="4297680" cy="42976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9006840" y="2926080"/>
            <a:ext cx="4754880" cy="4754880"/>
          </a:xfrm>
          <a:prstGeom prst="arc">
            <a:avLst/>
          </a:prstGeom>
          <a:solidFill>
            <a:srgbClr val="F5F5F5">
              <a:alpha val="0"/>
            </a:srgbClr>
          </a:solidFill>
          <a:ln w="228600">
            <a:solidFill>
              <a:srgbClr val="0092B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scottyoung/Cursor Projects/coach-dashboared/docs/Surveys/brand-assets/cmcc-2026-logo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1298448" cy="695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393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15400" y="393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DATA AS OF MAY 18,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1234440"/>
            <a:ext cx="7726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YEARS PARTICIPATING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12064" y="2761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92% of competitors are in their first two years, so onboarding and beginner pathways matter most.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75488" y="64648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648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08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94944" y="3429000"/>
            <a:ext cx="5431536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0392" y="357530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PARTICIPATION HISTORY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3497837" y="413863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717293" y="4111202"/>
            <a:ext cx="948732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1 year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958516" y="4102058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67076" y="415235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288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5287700" y="409291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67%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497837" y="44655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717293" y="4438100"/>
            <a:ext cx="948732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1-2 years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958516" y="4428956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67076" y="4479248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109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5287700" y="441981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25%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497837" y="479243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717293" y="4764998"/>
            <a:ext cx="834348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3-4 years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958516" y="4755854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67076" y="480614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24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5287700" y="474671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6%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497837" y="51193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717293" y="5091896"/>
            <a:ext cx="813816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5+ years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958516" y="5082752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67076" y="5133044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11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5287700" y="507360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3%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903720" y="36576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068312" y="3831336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92%</a:t>
            </a:r>
            <a:endParaRPr lang="en-US" sz="3100" dirty="0"/>
          </a:p>
        </p:txBody>
      </p:sp>
      <p:sp>
        <p:nvSpPr>
          <p:cNvPr id="36" name="Text 33"/>
          <p:cNvSpPr/>
          <p:nvPr/>
        </p:nvSpPr>
        <p:spPr>
          <a:xfrm>
            <a:off x="7068312" y="436168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FIRST TWO YEARS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7068312" y="4617720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47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 of 432 competitors</a:t>
            </a:r>
            <a:endParaRPr lang="en-US" sz="950" dirty="0"/>
          </a:p>
        </p:txBody>
      </p:sp>
      <p:graphicFrame>
        <p:nvGraphicFramePr>
          <p:cNvPr id="38" name="Chart 0">
            <a:extLst>
              <a:ext uri="{FF2B5EF4-FFF2-40B4-BE49-F238E27FC236}">
                <a16:creationId xmlns:a16="http://schemas.microsoft.com/office/drawing/2014/main" id="{BDB17B64-2CB6-058B-7450-1C58F920BC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189706"/>
              </p:ext>
            </p:extLst>
          </p:nvPr>
        </p:nvGraphicFramePr>
        <p:xfrm>
          <a:off x="958808" y="3689604"/>
          <a:ext cx="2131466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-1188720"/>
            <a:ext cx="4297680" cy="42976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9006840" y="2926080"/>
            <a:ext cx="4754880" cy="4754880"/>
          </a:xfrm>
          <a:prstGeom prst="arc">
            <a:avLst/>
          </a:prstGeom>
          <a:solidFill>
            <a:srgbClr val="F5F5F5">
              <a:alpha val="0"/>
            </a:srgbClr>
          </a:solidFill>
          <a:ln w="228600">
            <a:solidFill>
              <a:srgbClr val="0092B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scottyoung/Cursor Projects/coach-dashboared/docs/Surveys/brand-assets/cmcc-2026-logo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1298448" cy="695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393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15400" y="393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DATA AS OF MAY 18,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1234440"/>
            <a:ext cx="7726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CHALLENGES SOLVED: NON-CTF VS CTF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12064" y="2761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Self-paced labs and timed Flash CTF events show different after-hours patterns.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75488" y="64648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648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09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85800" y="3429000"/>
            <a:ext cx="507492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0392" y="357530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SOLVE TYPE MIX</a:t>
            </a:r>
            <a:endParaRPr lang="en-US" sz="17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868680" y="3931920"/>
          <a:ext cx="2131466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1"/>
          <p:cNvSpPr/>
          <p:nvPr/>
        </p:nvSpPr>
        <p:spPr>
          <a:xfrm>
            <a:off x="3228746" y="40690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448202" y="4041648"/>
            <a:ext cx="106893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Non-CTF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81144" y="4032504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89704" y="408279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8,162</a:t>
            </a:r>
            <a:endParaRPr lang="en-US" sz="780" dirty="0"/>
          </a:p>
        </p:txBody>
      </p:sp>
      <p:sp>
        <p:nvSpPr>
          <p:cNvPr id="19" name="Text 15"/>
          <p:cNvSpPr/>
          <p:nvPr/>
        </p:nvSpPr>
        <p:spPr>
          <a:xfrm>
            <a:off x="4910328" y="402336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64%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228746" y="49286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448202" y="4901184"/>
            <a:ext cx="106893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 CTF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581144" y="4892040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489704" y="494233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4,665</a:t>
            </a:r>
            <a:endParaRPr lang="en-US" sz="780" dirty="0"/>
          </a:p>
        </p:txBody>
      </p:sp>
      <p:sp>
        <p:nvSpPr>
          <p:cNvPr id="24" name="Text 20"/>
          <p:cNvSpPr/>
          <p:nvPr/>
        </p:nvSpPr>
        <p:spPr>
          <a:xfrm>
            <a:off x="4910328" y="48828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36%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989320" y="3429000"/>
            <a:ext cx="507492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153912" y="357530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OUTSIDE-SCHOOL SOLVE MIX</a:t>
            </a:r>
            <a:endParaRPr lang="en-US" sz="170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6172200" y="3931920"/>
          <a:ext cx="2131466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Shape 23"/>
          <p:cNvSpPr/>
          <p:nvPr/>
        </p:nvSpPr>
        <p:spPr>
          <a:xfrm>
            <a:off x="8532266" y="40690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8751722" y="4041648"/>
            <a:ext cx="106893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Non-CTF outside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9884664" y="4032504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9793224" y="408279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4,568</a:t>
            </a:r>
            <a:endParaRPr lang="en-US" sz="780" dirty="0"/>
          </a:p>
        </p:txBody>
      </p:sp>
      <p:sp>
        <p:nvSpPr>
          <p:cNvPr id="32" name="Text 27"/>
          <p:cNvSpPr/>
          <p:nvPr/>
        </p:nvSpPr>
        <p:spPr>
          <a:xfrm>
            <a:off x="10213848" y="402336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50%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8532266" y="49286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8751722" y="4901184"/>
            <a:ext cx="106893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 CTF outside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9884664" y="4892040"/>
            <a:ext cx="384048" cy="210312"/>
          </a:xfrm>
          <a:prstGeom prst="roundRect">
            <a:avLst>
              <a:gd name="adj" fmla="val 17391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9793224" y="494233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4,589</a:t>
            </a:r>
            <a:endParaRPr lang="en-US" sz="780" dirty="0"/>
          </a:p>
        </p:txBody>
      </p:sp>
      <p:sp>
        <p:nvSpPr>
          <p:cNvPr id="37" name="Text 32"/>
          <p:cNvSpPr/>
          <p:nvPr/>
        </p:nvSpPr>
        <p:spPr>
          <a:xfrm>
            <a:off x="10213848" y="48828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50%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-1188720"/>
            <a:ext cx="4297680" cy="42976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9006840" y="2926080"/>
            <a:ext cx="4754880" cy="4754880"/>
          </a:xfrm>
          <a:prstGeom prst="arc">
            <a:avLst/>
          </a:prstGeom>
          <a:solidFill>
            <a:srgbClr val="F5F5F5">
              <a:alpha val="0"/>
            </a:srgbClr>
          </a:solidFill>
          <a:ln w="228600">
            <a:solidFill>
              <a:srgbClr val="0092B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scottyoung/Cursor Projects/coach-dashboared/docs/Surveys/brand-assets/cmcc-2026-logo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1298448" cy="695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393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WHEN LEARNING HAPPENS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15400" y="393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DATA AS OF MAY 18,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1234440"/>
            <a:ext cx="7726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OUTSIDE-SCHOOL-DAY ENGAGEMENT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12064" y="2761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5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Nearly all Flash CTF activity, and a majority of solves occur outside the 9am–3pm school window (Pacific, Mon–Fri). on student’s own time.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75488" y="64648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648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10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98643" y="3429000"/>
            <a:ext cx="9810587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50392" y="3575304"/>
            <a:ext cx="9957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VOLUME BY TIME WINDOW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005840" y="39732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9am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32888" y="4023360"/>
            <a:ext cx="7315200" cy="128016"/>
          </a:xfrm>
          <a:prstGeom prst="roundRect">
            <a:avLst>
              <a:gd name="adj" fmla="val 21429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532888" y="4023360"/>
            <a:ext cx="1642754" cy="128016"/>
          </a:xfrm>
          <a:prstGeom prst="roundRect">
            <a:avLst>
              <a:gd name="adj" fmla="val 21429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902952" y="4014216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947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" y="428761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 day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532888" y="4317202"/>
            <a:ext cx="7315200" cy="128016"/>
          </a:xfrm>
          <a:prstGeom prst="roundRect">
            <a:avLst>
              <a:gd name="adj" fmla="val 21429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532888" y="4317202"/>
            <a:ext cx="6234486" cy="128016"/>
          </a:xfrm>
          <a:prstGeom prst="roundRect">
            <a:avLst>
              <a:gd name="adj" fmla="val 21429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902952" y="4328606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3,594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532888" y="4577754"/>
            <a:ext cx="7315200" cy="128016"/>
          </a:xfrm>
          <a:prstGeom prst="roundRect">
            <a:avLst>
              <a:gd name="adj" fmla="val 21429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532888" y="4577754"/>
            <a:ext cx="131837" cy="128016"/>
          </a:xfrm>
          <a:prstGeom prst="roundRect">
            <a:avLst>
              <a:gd name="adj" fmla="val 21429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902952" y="4578884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76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461227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3pm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532888" y="4724058"/>
            <a:ext cx="7315200" cy="128016"/>
          </a:xfrm>
          <a:prstGeom prst="roundRect">
            <a:avLst>
              <a:gd name="adj" fmla="val 21429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532888" y="4724058"/>
            <a:ext cx="4062651" cy="128016"/>
          </a:xfrm>
          <a:prstGeom prst="roundRect">
            <a:avLst>
              <a:gd name="adj" fmla="val 21429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902952" y="4735462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2,342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532888" y="4974336"/>
            <a:ext cx="7315200" cy="128016"/>
          </a:xfrm>
          <a:prstGeom prst="roundRect">
            <a:avLst>
              <a:gd name="adj" fmla="val 21429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2532888" y="4974336"/>
            <a:ext cx="645306" cy="128016"/>
          </a:xfrm>
          <a:prstGeom prst="roundRect">
            <a:avLst>
              <a:gd name="adj" fmla="val 21429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9902952" y="4965192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372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05840" y="5029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Weekend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2532888" y="5120640"/>
            <a:ext cx="7315200" cy="128016"/>
          </a:xfrm>
          <a:prstGeom prst="roundRect">
            <a:avLst>
              <a:gd name="adj" fmla="val 21429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2532888" y="5120640"/>
            <a:ext cx="2218672" cy="128016"/>
          </a:xfrm>
          <a:prstGeom prst="roundRect">
            <a:avLst>
              <a:gd name="adj" fmla="val 21429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9902952" y="5111496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1,279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532888" y="5340096"/>
            <a:ext cx="7315200" cy="128016"/>
          </a:xfrm>
          <a:prstGeom prst="roundRect">
            <a:avLst>
              <a:gd name="adj" fmla="val 21429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2532888" y="5340096"/>
            <a:ext cx="7315200" cy="128016"/>
          </a:xfrm>
          <a:prstGeom prst="roundRect">
            <a:avLst>
              <a:gd name="adj" fmla="val 21429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9902952" y="5330952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4,217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2532888" y="56302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2734056" y="561194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Non-CTF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3447288" y="56302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648456" y="561194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Flash CTF</a:t>
            </a:r>
            <a:endParaRPr lang="en-US" sz="820" dirty="0"/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8E59E1DA-BB04-EE1A-19D1-41F4082C542D}"/>
              </a:ext>
            </a:extLst>
          </p:cNvPr>
          <p:cNvSpPr/>
          <p:nvPr/>
        </p:nvSpPr>
        <p:spPr>
          <a:xfrm>
            <a:off x="993856" y="533591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Mayors Cup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-1188720"/>
            <a:ext cx="4297680" cy="42976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9006840" y="2926080"/>
            <a:ext cx="4754880" cy="4754880"/>
          </a:xfrm>
          <a:prstGeom prst="arc">
            <a:avLst/>
          </a:prstGeom>
          <a:solidFill>
            <a:srgbClr val="F5F5F5">
              <a:alpha val="0"/>
            </a:srgbClr>
          </a:solidFill>
          <a:ln w="228600">
            <a:solidFill>
              <a:srgbClr val="0092B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scottyoung/Cursor Projects/coach-dashboared/docs/Surveys/brand-assets/cmcc-2026-logo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1298448" cy="695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393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TREND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15400" y="393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DATA AS OF MAY 18,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1234440"/>
            <a:ext cx="7726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CHALLENGE ACTIVITY OVER TIME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12064" y="2761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 CTF peaks at 4,244 solves in April during a major timed event.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75488" y="64648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648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11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85800" y="3154680"/>
            <a:ext cx="102870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0392" y="3342080"/>
            <a:ext cx="9957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MONTHLY SOLVES</a:t>
            </a:r>
            <a:endParaRPr lang="en-US" sz="17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2356581443"/>
              </p:ext>
            </p:extLst>
          </p:nvPr>
        </p:nvGraphicFramePr>
        <p:xfrm>
          <a:off x="1020738" y="3873354"/>
          <a:ext cx="941832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-1188720"/>
            <a:ext cx="4297680" cy="42976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9006840" y="2926080"/>
            <a:ext cx="4754880" cy="4754880"/>
          </a:xfrm>
          <a:prstGeom prst="arc">
            <a:avLst/>
          </a:prstGeom>
          <a:solidFill>
            <a:srgbClr val="F5F5F5">
              <a:alpha val="0"/>
            </a:srgbClr>
          </a:solidFill>
          <a:ln w="228600">
            <a:solidFill>
              <a:srgbClr val="0092B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scottyoung/Cursor Projects/coach-dashboared/docs/Surveys/brand-assets/cmcc-2026-logo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1298448" cy="695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393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WHAT STUDENTS SOLVE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15400" y="393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DATA AS OF MAY 18,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1234440"/>
            <a:ext cx="7726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CHALLENGE TOPIC CLUSTERING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12064" y="2761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Cryptography and reconnaissance lead the solved-topic mix across 12,827 total solves.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75488" y="64648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648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12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85800" y="3456432"/>
            <a:ext cx="9957816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0392" y="3602736"/>
            <a:ext cx="9957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TOPIC CLUSTERS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87552" y="395020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Cryptography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2587752" y="3959352"/>
            <a:ext cx="719632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587752" y="3959352"/>
            <a:ext cx="7196328" cy="146304"/>
          </a:xfrm>
          <a:prstGeom prst="roundRect">
            <a:avLst>
              <a:gd name="adj" fmla="val 18750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884664" y="39502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2,832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87552" y="414121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Reconnaissance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2587752" y="4150360"/>
            <a:ext cx="719632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587752" y="4150360"/>
            <a:ext cx="6672866" cy="146304"/>
          </a:xfrm>
          <a:prstGeom prst="roundRect">
            <a:avLst>
              <a:gd name="adj" fmla="val 18750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884664" y="414121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2,626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7552" y="4332224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Forensics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2587752" y="4341368"/>
            <a:ext cx="719632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587752" y="4341368"/>
            <a:ext cx="5046577" cy="146304"/>
          </a:xfrm>
          <a:prstGeom prst="roundRect">
            <a:avLst>
              <a:gd name="adj" fmla="val 18750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884664" y="433222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1,986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87552" y="452323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OSINT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2587752" y="4532376"/>
            <a:ext cx="719632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587752" y="4532376"/>
            <a:ext cx="2853629" cy="146304"/>
          </a:xfrm>
          <a:prstGeom prst="roundRect">
            <a:avLst>
              <a:gd name="adj" fmla="val 18750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884664" y="452323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1,123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87552" y="471424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Exploitation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2587752" y="4723384"/>
            <a:ext cx="719632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2587752" y="4723384"/>
            <a:ext cx="2137045" cy="146304"/>
          </a:xfrm>
          <a:prstGeom prst="roundRect">
            <a:avLst>
              <a:gd name="adj" fmla="val 1875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884664" y="471424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841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87552" y="490524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2587752" y="4914392"/>
            <a:ext cx="719632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2587752" y="4914392"/>
            <a:ext cx="2043025" cy="146304"/>
          </a:xfrm>
          <a:prstGeom prst="roundRect">
            <a:avLst>
              <a:gd name="adj" fmla="val 18750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884664" y="490524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804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87552" y="509625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Reverse Eng.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2587752" y="5105400"/>
            <a:ext cx="719632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2587752" y="5105400"/>
            <a:ext cx="1867691" cy="146304"/>
          </a:xfrm>
          <a:prstGeom prst="roundRect">
            <a:avLst>
              <a:gd name="adj" fmla="val 18750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9884664" y="509625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735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87552" y="5287264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Systems</a:t>
            </a:r>
            <a:endParaRPr lang="en-US" sz="880" dirty="0"/>
          </a:p>
        </p:txBody>
      </p:sp>
      <p:sp>
        <p:nvSpPr>
          <p:cNvPr id="43" name="Shape 40"/>
          <p:cNvSpPr/>
          <p:nvPr/>
        </p:nvSpPr>
        <p:spPr>
          <a:xfrm>
            <a:off x="2587752" y="5296408"/>
            <a:ext cx="719632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2587752" y="5296408"/>
            <a:ext cx="1356935" cy="146304"/>
          </a:xfrm>
          <a:prstGeom prst="roundRect">
            <a:avLst>
              <a:gd name="adj" fmla="val 18750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9884664" y="528726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534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987552" y="547827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Miscellaneous</a:t>
            </a:r>
            <a:endParaRPr lang="en-US" sz="880" dirty="0"/>
          </a:p>
        </p:txBody>
      </p:sp>
      <p:sp>
        <p:nvSpPr>
          <p:cNvPr id="47" name="Shape 44"/>
          <p:cNvSpPr/>
          <p:nvPr/>
        </p:nvSpPr>
        <p:spPr>
          <a:xfrm>
            <a:off x="2587752" y="5487416"/>
            <a:ext cx="719632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2587752" y="5487416"/>
            <a:ext cx="711501" cy="146304"/>
          </a:xfrm>
          <a:prstGeom prst="roundRect">
            <a:avLst>
              <a:gd name="adj" fmla="val 18750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9884664" y="547827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280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-1188720"/>
            <a:ext cx="4297680" cy="42976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9006840" y="2926080"/>
            <a:ext cx="4754880" cy="4754880"/>
          </a:xfrm>
          <a:prstGeom prst="arc">
            <a:avLst/>
          </a:prstGeom>
          <a:solidFill>
            <a:srgbClr val="F5F5F5">
              <a:alpha val="0"/>
            </a:srgbClr>
          </a:solidFill>
          <a:ln w="228600">
            <a:solidFill>
              <a:srgbClr val="0092B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scottyoung/Cursor Projects/coach-dashboared/docs/Surveys/brand-assets/cmcc-2026-logo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1298448" cy="695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393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ENGAGEMENT DETAIL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15400" y="393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DATA AS OF MAY 18,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1234440"/>
            <a:ext cx="7726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SOLVES BY DIVISION AND FLASH CTF REACH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12064" y="2761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school drives the largest share of solves; Flash CTF reach includes 271 unique participants.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75488" y="64648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648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13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85799" y="3383280"/>
            <a:ext cx="5123689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0392" y="3529584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CHALLENGES SOLVED BY DIVISION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60120" y="401421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School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2560320" y="4023360"/>
            <a:ext cx="235000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560320" y="4023360"/>
            <a:ext cx="2350008" cy="146304"/>
          </a:xfrm>
          <a:prstGeom prst="roundRect">
            <a:avLst>
              <a:gd name="adj" fmla="val 18750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10912" y="401421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6,223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432282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College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2560320" y="4331970"/>
            <a:ext cx="235000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560320" y="4331970"/>
            <a:ext cx="1595876" cy="146304"/>
          </a:xfrm>
          <a:prstGeom prst="roundRect">
            <a:avLst>
              <a:gd name="adj" fmla="val 18750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10912" y="432282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4,226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0120" y="463143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School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2560320" y="4640580"/>
            <a:ext cx="235000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560320" y="4640580"/>
            <a:ext cx="556253" cy="146304"/>
          </a:xfrm>
          <a:prstGeom prst="roundRect">
            <a:avLst>
              <a:gd name="adj" fmla="val 18750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010912" y="463143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1,473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60120" y="494004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ROP College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2560320" y="4949190"/>
            <a:ext cx="2350008" cy="146304"/>
          </a:xfrm>
          <a:prstGeom prst="roundRect">
            <a:avLst>
              <a:gd name="adj" fmla="val 18750"/>
            </a:avLst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560320" y="4949190"/>
            <a:ext cx="47204" cy="146304"/>
          </a:xfrm>
          <a:prstGeom prst="roundRect">
            <a:avLst>
              <a:gd name="adj" fmla="val 58114"/>
            </a:avLst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010912" y="494004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4747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125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217920" y="3429000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382512" y="3602736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271</a:t>
            </a:r>
            <a:endParaRPr lang="en-US" sz="3100" dirty="0"/>
          </a:p>
        </p:txBody>
      </p:sp>
      <p:sp>
        <p:nvSpPr>
          <p:cNvPr id="32" name="Text 29"/>
          <p:cNvSpPr/>
          <p:nvPr/>
        </p:nvSpPr>
        <p:spPr>
          <a:xfrm>
            <a:off x="6382512" y="41330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UNIQUE FLASH CTF PARTICIPANTS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217920" y="4343400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382512" y="4517136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573</a:t>
            </a:r>
            <a:endParaRPr lang="en-US" sz="3100" dirty="0"/>
          </a:p>
        </p:txBody>
      </p:sp>
      <p:sp>
        <p:nvSpPr>
          <p:cNvPr id="35" name="Text 32"/>
          <p:cNvSpPr/>
          <p:nvPr/>
        </p:nvSpPr>
        <p:spPr>
          <a:xfrm>
            <a:off x="6382512" y="50474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TOTAL FLASH CTF EVENT ENTRIES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217920" y="5257800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4D4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A0A0A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382512" y="5431536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2,446</a:t>
            </a:r>
            <a:endParaRPr lang="en-US" sz="3100" dirty="0"/>
          </a:p>
        </p:txBody>
      </p:sp>
      <p:sp>
        <p:nvSpPr>
          <p:cNvPr id="38" name="Text 35"/>
          <p:cNvSpPr/>
          <p:nvPr/>
        </p:nvSpPr>
        <p:spPr>
          <a:xfrm>
            <a:off x="6382512" y="59618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2D2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NON-CTF SOLVES BY NON-CTF-ONLY STUDENTS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87968" y="-1188720"/>
            <a:ext cx="4297680" cy="42976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9006840" y="2926080"/>
            <a:ext cx="4754880" cy="4754880"/>
          </a:xfrm>
          <a:prstGeom prst="arc">
            <a:avLst/>
          </a:prstGeom>
          <a:solidFill>
            <a:srgbClr val="151515">
              <a:alpha val="0"/>
            </a:srgbClr>
          </a:solidFill>
          <a:ln w="228600">
            <a:solidFill>
              <a:srgbClr val="00AB6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0624" y="210312"/>
            <a:ext cx="1408176" cy="787286"/>
          </a:xfrm>
          <a:prstGeom prst="roundRect">
            <a:avLst>
              <a:gd name="adj" fmla="val 46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Users/scottyoung/Cursor Projects/coach-dashboared/docs/Surveys/brand-assets/cmcc-2026-logo-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1298448" cy="6958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393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15400" y="393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DATA AS OF MAY 18, 2026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5488" y="1234440"/>
            <a:ext cx="7726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WHAT THE DATA TELLS US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475488" y="64648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8C8C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OPERATIONS ANALYTICS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648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8C8C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14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85800" y="2971800"/>
            <a:ext cx="4800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6D6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50392" y="31363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092B3"/>
          </a:solidFill>
          <a:ln w="12700">
            <a:solidFill>
              <a:srgbClr val="009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50392" y="319582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71600" y="3136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92B3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SCALE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371600" y="34472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545 competitors and 36 coaches; 264 fully compliant and in the game.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5943600" y="2971800"/>
            <a:ext cx="4800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6D6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08192" y="31363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0AB69"/>
          </a:solidFill>
          <a:ln w="12700">
            <a:solidFill>
              <a:srgbClr val="00A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108192" y="319582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29400" y="3136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AB69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EARLY-CAREER BASE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629400" y="34472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92% of competitors are in their first two years - beginner pathways are critical.</a:t>
            </a:r>
            <a:endParaRPr lang="en-US" sz="1060" dirty="0"/>
          </a:p>
        </p:txBody>
      </p:sp>
      <p:sp>
        <p:nvSpPr>
          <p:cNvPr id="22" name="Shape 19"/>
          <p:cNvSpPr/>
          <p:nvPr/>
        </p:nvSpPr>
        <p:spPr>
          <a:xfrm>
            <a:off x="685800" y="4023360"/>
            <a:ext cx="4800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6D6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50392" y="41879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50392" y="42473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371600" y="4187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6B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COMPLIANCE GAP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1371600" y="4498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49% have a completed release; 180 have not started.</a:t>
            </a:r>
            <a:endParaRPr lang="en-US" sz="1060" dirty="0"/>
          </a:p>
        </p:txBody>
      </p:sp>
      <p:sp>
        <p:nvSpPr>
          <p:cNvPr id="27" name="Shape 24"/>
          <p:cNvSpPr/>
          <p:nvPr/>
        </p:nvSpPr>
        <p:spPr>
          <a:xfrm>
            <a:off x="5943600" y="4023360"/>
            <a:ext cx="4800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6D6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108192" y="41879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05FAE"/>
          </a:solidFill>
          <a:ln w="12700">
            <a:solidFill>
              <a:srgbClr val="F05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108192" y="42473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629400" y="4187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5FA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LEARNING IS AFTER-HOURS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6629400" y="4498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56% of non-CTF and 98% of CTF solving happens outside school hours.</a:t>
            </a:r>
            <a:endParaRPr lang="en-US" sz="1060" dirty="0"/>
          </a:p>
        </p:txBody>
      </p:sp>
      <p:sp>
        <p:nvSpPr>
          <p:cNvPr id="32" name="Shape 29"/>
          <p:cNvSpPr/>
          <p:nvPr/>
        </p:nvSpPr>
        <p:spPr>
          <a:xfrm>
            <a:off x="3310128" y="5074920"/>
            <a:ext cx="55778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6D6D6">
                <a:alpha val="92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474720" y="52395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474720" y="529894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3995928" y="523951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A78BFA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CTF IS EVENT-DRIVEN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3995928" y="555040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2F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 CTF solves peak at 4,244 in April; 271 unique students have participated.</a:t>
            </a:r>
            <a:endParaRPr lang="en-US" sz="10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ajdhan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893</Words>
  <Application>Microsoft Macintosh PowerPoint</Application>
  <PresentationFormat>Widescreen</PresentationFormat>
  <Paragraphs>304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Rajdhani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Analytics CMCC Branded</dc:title>
  <dc:subject>Operations Analytics</dc:subject>
  <dc:creator>Codex</dc:creator>
  <cp:lastModifiedBy>Scott Young</cp:lastModifiedBy>
  <cp:revision>2</cp:revision>
  <dcterms:created xsi:type="dcterms:W3CDTF">2026-05-19T03:02:24Z</dcterms:created>
  <dcterms:modified xsi:type="dcterms:W3CDTF">2026-05-19T03:30:10Z</dcterms:modified>
</cp:coreProperties>
</file>